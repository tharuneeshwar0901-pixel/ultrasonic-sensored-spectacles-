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sldIdLst>
    <p:sldId id="257" r:id="rId2"/>
    <p:sldId id="258" r:id="rId3"/>
    <p:sldId id="260" r:id="rId4"/>
    <p:sldId id="261" r:id="rId5"/>
    <p:sldId id="263" r:id="rId6"/>
    <p:sldId id="269" r:id="rId7"/>
    <p:sldId id="282" r:id="rId8"/>
    <p:sldId id="264" r:id="rId9"/>
    <p:sldId id="270" r:id="rId10"/>
    <p:sldId id="271" r:id="rId11"/>
    <p:sldId id="276" r:id="rId12"/>
    <p:sldId id="265" r:id="rId13"/>
    <p:sldId id="274" r:id="rId14"/>
    <p:sldId id="277" r:id="rId15"/>
    <p:sldId id="284" r:id="rId16"/>
    <p:sldId id="283" r:id="rId17"/>
    <p:sldId id="278" r:id="rId18"/>
    <p:sldId id="272" r:id="rId19"/>
    <p:sldId id="280" r:id="rId20"/>
    <p:sldId id="28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3445" autoAdjust="0"/>
  </p:normalViewPr>
  <p:slideViewPr>
    <p:cSldViewPr snapToGrid="0">
      <p:cViewPr varScale="1">
        <p:scale>
          <a:sx n="76" d="100"/>
          <a:sy n="76" d="100"/>
        </p:scale>
        <p:origin x="93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1807D1-73D5-4867-BB09-83F02C54F4EB}" type="datetimeFigureOut">
              <a:rPr lang="en-IN" smtClean="0"/>
              <a:t>25-11-2025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82D105-F76D-46E4-8D89-C2398090937D}" type="slidenum">
              <a:rPr lang="en-IN" smtClean="0"/>
              <a:t>‹#›</a:t>
            </a:fld>
            <a:endParaRPr lang="en-IN" dirty="0"/>
          </a:p>
        </p:txBody>
      </p:sp>
    </p:spTree>
    <p:extLst>
      <p:ext uri="{BB962C8B-B14F-4D97-AF65-F5344CB8AC3E}">
        <p14:creationId xmlns:p14="http://schemas.microsoft.com/office/powerpoint/2010/main" val="1815251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C82D105-F76D-46E4-8D89-C2398090937D}" type="slidenum">
              <a:rPr lang="en-IN" smtClean="0"/>
              <a:t>6</a:t>
            </a:fld>
            <a:endParaRPr lang="en-IN" dirty="0"/>
          </a:p>
        </p:txBody>
      </p:sp>
    </p:spTree>
    <p:extLst>
      <p:ext uri="{BB962C8B-B14F-4D97-AF65-F5344CB8AC3E}">
        <p14:creationId xmlns:p14="http://schemas.microsoft.com/office/powerpoint/2010/main" val="3280201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C82D105-F76D-46E4-8D89-C2398090937D}" type="slidenum">
              <a:rPr lang="en-IN" smtClean="0"/>
              <a:t>12</a:t>
            </a:fld>
            <a:endParaRPr lang="en-IN" dirty="0"/>
          </a:p>
        </p:txBody>
      </p:sp>
    </p:spTree>
    <p:extLst>
      <p:ext uri="{BB962C8B-B14F-4D97-AF65-F5344CB8AC3E}">
        <p14:creationId xmlns:p14="http://schemas.microsoft.com/office/powerpoint/2010/main" val="704135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FDE1D-1558-9E21-64BF-6B41587E6D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66A3C9C-8B29-8EF8-F68C-6A1363306D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1101EF4-0ED4-A6CA-9C26-CA23112B1D96}"/>
              </a:ext>
            </a:extLst>
          </p:cNvPr>
          <p:cNvSpPr>
            <a:spLocks noGrp="1"/>
          </p:cNvSpPr>
          <p:nvPr>
            <p:ph type="dt" sz="half" idx="10"/>
          </p:nvPr>
        </p:nvSpPr>
        <p:spPr/>
        <p:txBody>
          <a:bodyPr/>
          <a:lstStyle/>
          <a:p>
            <a:fld id="{B1D13959-E95E-46B7-992F-FC4E6E5D0BA8}" type="datetime1">
              <a:rPr lang="en-IN" smtClean="0"/>
              <a:t>25-11-2025</a:t>
            </a:fld>
            <a:endParaRPr lang="en-IN" dirty="0"/>
          </a:p>
        </p:txBody>
      </p:sp>
      <p:sp>
        <p:nvSpPr>
          <p:cNvPr id="5" name="Footer Placeholder 4">
            <a:extLst>
              <a:ext uri="{FF2B5EF4-FFF2-40B4-BE49-F238E27FC236}">
                <a16:creationId xmlns:a16="http://schemas.microsoft.com/office/drawing/2014/main" id="{5C286EF4-A36F-BB01-9611-BA8332981FC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6E86371-6E50-290F-0AE9-8A7C63A9A3D8}"/>
              </a:ext>
            </a:extLst>
          </p:cNvPr>
          <p:cNvSpPr>
            <a:spLocks noGrp="1"/>
          </p:cNvSpPr>
          <p:nvPr>
            <p:ph type="sldNum" sz="quarter" idx="12"/>
          </p:nvPr>
        </p:nvSpPr>
        <p:spPr/>
        <p:txBody>
          <a:bodyPr/>
          <a:lstStyle/>
          <a:p>
            <a:fld id="{1D61E2EE-8691-4F9F-8A0A-B2A5C6D22C5B}" type="slidenum">
              <a:rPr lang="en-IN" smtClean="0"/>
              <a:t>‹#›</a:t>
            </a:fld>
            <a:endParaRPr lang="en-IN" dirty="0"/>
          </a:p>
        </p:txBody>
      </p:sp>
    </p:spTree>
    <p:extLst>
      <p:ext uri="{BB962C8B-B14F-4D97-AF65-F5344CB8AC3E}">
        <p14:creationId xmlns:p14="http://schemas.microsoft.com/office/powerpoint/2010/main" val="2635879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FE039-65A5-647F-4A44-FADA08C6A8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16A96D-C29A-35CC-EC2B-B5392FEB03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BC0BD4-9319-36A0-E85F-CC9F401364CA}"/>
              </a:ext>
            </a:extLst>
          </p:cNvPr>
          <p:cNvSpPr>
            <a:spLocks noGrp="1"/>
          </p:cNvSpPr>
          <p:nvPr>
            <p:ph type="dt" sz="half" idx="10"/>
          </p:nvPr>
        </p:nvSpPr>
        <p:spPr/>
        <p:txBody>
          <a:bodyPr/>
          <a:lstStyle/>
          <a:p>
            <a:fld id="{33AF81BB-0238-4588-8C07-DAF0DBF3914C}" type="datetime1">
              <a:rPr lang="en-IN" smtClean="0"/>
              <a:t>25-11-2025</a:t>
            </a:fld>
            <a:endParaRPr lang="en-IN" dirty="0"/>
          </a:p>
        </p:txBody>
      </p:sp>
      <p:sp>
        <p:nvSpPr>
          <p:cNvPr id="5" name="Footer Placeholder 4">
            <a:extLst>
              <a:ext uri="{FF2B5EF4-FFF2-40B4-BE49-F238E27FC236}">
                <a16:creationId xmlns:a16="http://schemas.microsoft.com/office/drawing/2014/main" id="{B507DBE9-B24F-839F-4FFD-0BE0EE03DCA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8E31338-B60C-55EA-3169-A01E5207ED9C}"/>
              </a:ext>
            </a:extLst>
          </p:cNvPr>
          <p:cNvSpPr>
            <a:spLocks noGrp="1"/>
          </p:cNvSpPr>
          <p:nvPr>
            <p:ph type="sldNum" sz="quarter" idx="12"/>
          </p:nvPr>
        </p:nvSpPr>
        <p:spPr/>
        <p:txBody>
          <a:bodyPr/>
          <a:lstStyle/>
          <a:p>
            <a:fld id="{1D61E2EE-8691-4F9F-8A0A-B2A5C6D22C5B}" type="slidenum">
              <a:rPr lang="en-IN" smtClean="0"/>
              <a:t>‹#›</a:t>
            </a:fld>
            <a:endParaRPr lang="en-IN" dirty="0"/>
          </a:p>
        </p:txBody>
      </p:sp>
    </p:spTree>
    <p:extLst>
      <p:ext uri="{BB962C8B-B14F-4D97-AF65-F5344CB8AC3E}">
        <p14:creationId xmlns:p14="http://schemas.microsoft.com/office/powerpoint/2010/main" val="3826720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CC23B-8316-79E0-EB2A-62E25879EC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0CD108B-D0C1-2145-8145-B1397D48C4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F89D19-0C9D-77F1-3B2D-9959E7B80AEA}"/>
              </a:ext>
            </a:extLst>
          </p:cNvPr>
          <p:cNvSpPr>
            <a:spLocks noGrp="1"/>
          </p:cNvSpPr>
          <p:nvPr>
            <p:ph type="dt" sz="half" idx="10"/>
          </p:nvPr>
        </p:nvSpPr>
        <p:spPr/>
        <p:txBody>
          <a:bodyPr/>
          <a:lstStyle/>
          <a:p>
            <a:fld id="{C9463447-D5E2-4419-A74C-1884E8E51A25}" type="datetime1">
              <a:rPr lang="en-IN" smtClean="0"/>
              <a:t>25-11-2025</a:t>
            </a:fld>
            <a:endParaRPr lang="en-IN" dirty="0"/>
          </a:p>
        </p:txBody>
      </p:sp>
      <p:sp>
        <p:nvSpPr>
          <p:cNvPr id="5" name="Footer Placeholder 4">
            <a:extLst>
              <a:ext uri="{FF2B5EF4-FFF2-40B4-BE49-F238E27FC236}">
                <a16:creationId xmlns:a16="http://schemas.microsoft.com/office/drawing/2014/main" id="{543BF0E7-5FB8-FA95-35F4-497AF35D81D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16ABF64C-D7A3-203F-D354-D080CA6D3705}"/>
              </a:ext>
            </a:extLst>
          </p:cNvPr>
          <p:cNvSpPr>
            <a:spLocks noGrp="1"/>
          </p:cNvSpPr>
          <p:nvPr>
            <p:ph type="sldNum" sz="quarter" idx="12"/>
          </p:nvPr>
        </p:nvSpPr>
        <p:spPr/>
        <p:txBody>
          <a:bodyPr/>
          <a:lstStyle/>
          <a:p>
            <a:fld id="{1D61E2EE-8691-4F9F-8A0A-B2A5C6D22C5B}" type="slidenum">
              <a:rPr lang="en-IN" smtClean="0"/>
              <a:t>‹#›</a:t>
            </a:fld>
            <a:endParaRPr lang="en-IN" dirty="0"/>
          </a:p>
        </p:txBody>
      </p:sp>
    </p:spTree>
    <p:extLst>
      <p:ext uri="{BB962C8B-B14F-4D97-AF65-F5344CB8AC3E}">
        <p14:creationId xmlns:p14="http://schemas.microsoft.com/office/powerpoint/2010/main" val="796231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15642-63CD-1A66-EC3F-94E7936C8A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A6068E-3111-800D-20D1-704A9FA299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DD607B7-4E81-C7A3-C32F-BBB7E538CF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DAA7F5F-BA67-184F-1D9C-98CC81369859}"/>
              </a:ext>
            </a:extLst>
          </p:cNvPr>
          <p:cNvSpPr>
            <a:spLocks noGrp="1"/>
          </p:cNvSpPr>
          <p:nvPr>
            <p:ph type="dt" sz="half" idx="10"/>
          </p:nvPr>
        </p:nvSpPr>
        <p:spPr/>
        <p:txBody>
          <a:bodyPr/>
          <a:lstStyle/>
          <a:p>
            <a:fld id="{9FD4A164-7004-4177-A478-650B228057DD}" type="datetime1">
              <a:rPr lang="en-IN" smtClean="0"/>
              <a:t>25-11-2025</a:t>
            </a:fld>
            <a:endParaRPr lang="en-IN" dirty="0"/>
          </a:p>
        </p:txBody>
      </p:sp>
      <p:sp>
        <p:nvSpPr>
          <p:cNvPr id="6" name="Footer Placeholder 5">
            <a:extLst>
              <a:ext uri="{FF2B5EF4-FFF2-40B4-BE49-F238E27FC236}">
                <a16:creationId xmlns:a16="http://schemas.microsoft.com/office/drawing/2014/main" id="{CD1DF17B-7F1D-7749-8C17-4147159D6C6F}"/>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46D65A5A-5221-066F-BA0E-A89C9FF57C74}"/>
              </a:ext>
            </a:extLst>
          </p:cNvPr>
          <p:cNvSpPr>
            <a:spLocks noGrp="1"/>
          </p:cNvSpPr>
          <p:nvPr>
            <p:ph type="sldNum" sz="quarter" idx="12"/>
          </p:nvPr>
        </p:nvSpPr>
        <p:spPr/>
        <p:txBody>
          <a:bodyPr/>
          <a:lstStyle/>
          <a:p>
            <a:fld id="{1D61E2EE-8691-4F9F-8A0A-B2A5C6D22C5B}" type="slidenum">
              <a:rPr lang="en-IN" smtClean="0"/>
              <a:t>‹#›</a:t>
            </a:fld>
            <a:endParaRPr lang="en-IN" dirty="0"/>
          </a:p>
        </p:txBody>
      </p:sp>
    </p:spTree>
    <p:extLst>
      <p:ext uri="{BB962C8B-B14F-4D97-AF65-F5344CB8AC3E}">
        <p14:creationId xmlns:p14="http://schemas.microsoft.com/office/powerpoint/2010/main" val="1319398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8F814-B763-A9DC-26DC-829CA0BE720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1298024-291D-B542-8750-35F43AD915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A4E40B-147D-5E6E-40B5-1AC1AAD3C2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C97303-514E-8906-F413-8D14736CBE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62388E-3940-7995-0F54-5A5A5652B2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2A5A32E-9179-DF6E-2C54-5ED894C26692}"/>
              </a:ext>
            </a:extLst>
          </p:cNvPr>
          <p:cNvSpPr>
            <a:spLocks noGrp="1"/>
          </p:cNvSpPr>
          <p:nvPr>
            <p:ph type="dt" sz="half" idx="10"/>
          </p:nvPr>
        </p:nvSpPr>
        <p:spPr/>
        <p:txBody>
          <a:bodyPr/>
          <a:lstStyle/>
          <a:p>
            <a:fld id="{68D48727-04C1-4581-9C42-8BE435B2597E}" type="datetime1">
              <a:rPr lang="en-IN" smtClean="0"/>
              <a:t>25-11-2025</a:t>
            </a:fld>
            <a:endParaRPr lang="en-IN" dirty="0"/>
          </a:p>
        </p:txBody>
      </p:sp>
      <p:sp>
        <p:nvSpPr>
          <p:cNvPr id="8" name="Footer Placeholder 7">
            <a:extLst>
              <a:ext uri="{FF2B5EF4-FFF2-40B4-BE49-F238E27FC236}">
                <a16:creationId xmlns:a16="http://schemas.microsoft.com/office/drawing/2014/main" id="{FA5AFE13-60C6-207E-3E0E-7A221E03F04B}"/>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69DB99AD-04C7-15B5-9128-89D0287E6A8D}"/>
              </a:ext>
            </a:extLst>
          </p:cNvPr>
          <p:cNvSpPr>
            <a:spLocks noGrp="1"/>
          </p:cNvSpPr>
          <p:nvPr>
            <p:ph type="sldNum" sz="quarter" idx="12"/>
          </p:nvPr>
        </p:nvSpPr>
        <p:spPr/>
        <p:txBody>
          <a:bodyPr/>
          <a:lstStyle/>
          <a:p>
            <a:fld id="{1D61E2EE-8691-4F9F-8A0A-B2A5C6D22C5B}" type="slidenum">
              <a:rPr lang="en-IN" smtClean="0"/>
              <a:t>‹#›</a:t>
            </a:fld>
            <a:endParaRPr lang="en-IN" dirty="0"/>
          </a:p>
        </p:txBody>
      </p:sp>
    </p:spTree>
    <p:extLst>
      <p:ext uri="{BB962C8B-B14F-4D97-AF65-F5344CB8AC3E}">
        <p14:creationId xmlns:p14="http://schemas.microsoft.com/office/powerpoint/2010/main" val="3561630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71742-A671-1A54-A4D6-73A05CE3DBA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91008C-468E-D583-5296-8B7FC77D302A}"/>
              </a:ext>
            </a:extLst>
          </p:cNvPr>
          <p:cNvSpPr>
            <a:spLocks noGrp="1"/>
          </p:cNvSpPr>
          <p:nvPr>
            <p:ph type="dt" sz="half" idx="10"/>
          </p:nvPr>
        </p:nvSpPr>
        <p:spPr/>
        <p:txBody>
          <a:bodyPr/>
          <a:lstStyle/>
          <a:p>
            <a:fld id="{950AB518-CF8E-44CA-A2A7-4C20D05F9A60}" type="datetime1">
              <a:rPr lang="en-IN" smtClean="0"/>
              <a:t>25-11-2025</a:t>
            </a:fld>
            <a:endParaRPr lang="en-IN" dirty="0"/>
          </a:p>
        </p:txBody>
      </p:sp>
      <p:sp>
        <p:nvSpPr>
          <p:cNvPr id="4" name="Footer Placeholder 3">
            <a:extLst>
              <a:ext uri="{FF2B5EF4-FFF2-40B4-BE49-F238E27FC236}">
                <a16:creationId xmlns:a16="http://schemas.microsoft.com/office/drawing/2014/main" id="{750DAF4A-2E37-84C7-8C97-E0F4A2BD144F}"/>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A9AF4C2B-52E6-1E82-C71E-F692599C672D}"/>
              </a:ext>
            </a:extLst>
          </p:cNvPr>
          <p:cNvSpPr>
            <a:spLocks noGrp="1"/>
          </p:cNvSpPr>
          <p:nvPr>
            <p:ph type="sldNum" sz="quarter" idx="12"/>
          </p:nvPr>
        </p:nvSpPr>
        <p:spPr/>
        <p:txBody>
          <a:bodyPr/>
          <a:lstStyle/>
          <a:p>
            <a:fld id="{1D61E2EE-8691-4F9F-8A0A-B2A5C6D22C5B}" type="slidenum">
              <a:rPr lang="en-IN" smtClean="0"/>
              <a:t>‹#›</a:t>
            </a:fld>
            <a:endParaRPr lang="en-IN" dirty="0"/>
          </a:p>
        </p:txBody>
      </p:sp>
    </p:spTree>
    <p:extLst>
      <p:ext uri="{BB962C8B-B14F-4D97-AF65-F5344CB8AC3E}">
        <p14:creationId xmlns:p14="http://schemas.microsoft.com/office/powerpoint/2010/main" val="974746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272BF9-18CC-A740-FD5A-F1C83408DA9A}"/>
              </a:ext>
            </a:extLst>
          </p:cNvPr>
          <p:cNvSpPr>
            <a:spLocks noGrp="1"/>
          </p:cNvSpPr>
          <p:nvPr>
            <p:ph type="dt" sz="half" idx="10"/>
          </p:nvPr>
        </p:nvSpPr>
        <p:spPr/>
        <p:txBody>
          <a:bodyPr/>
          <a:lstStyle/>
          <a:p>
            <a:fld id="{65788D1D-0CDB-4E75-B14E-A868D4254C9C}" type="datetime1">
              <a:rPr lang="en-IN" smtClean="0"/>
              <a:t>25-11-2025</a:t>
            </a:fld>
            <a:endParaRPr lang="en-IN" dirty="0"/>
          </a:p>
        </p:txBody>
      </p:sp>
      <p:sp>
        <p:nvSpPr>
          <p:cNvPr id="3" name="Footer Placeholder 2">
            <a:extLst>
              <a:ext uri="{FF2B5EF4-FFF2-40B4-BE49-F238E27FC236}">
                <a16:creationId xmlns:a16="http://schemas.microsoft.com/office/drawing/2014/main" id="{9EECF62B-81D3-C71C-B918-441DC70A38CA}"/>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C99C7D89-B7B5-431E-60E5-D30FBC38CB0E}"/>
              </a:ext>
            </a:extLst>
          </p:cNvPr>
          <p:cNvSpPr>
            <a:spLocks noGrp="1"/>
          </p:cNvSpPr>
          <p:nvPr>
            <p:ph type="sldNum" sz="quarter" idx="12"/>
          </p:nvPr>
        </p:nvSpPr>
        <p:spPr/>
        <p:txBody>
          <a:bodyPr/>
          <a:lstStyle/>
          <a:p>
            <a:fld id="{1D61E2EE-8691-4F9F-8A0A-B2A5C6D22C5B}" type="slidenum">
              <a:rPr lang="en-IN" smtClean="0"/>
              <a:t>‹#›</a:t>
            </a:fld>
            <a:endParaRPr lang="en-IN" dirty="0"/>
          </a:p>
        </p:txBody>
      </p:sp>
    </p:spTree>
    <p:extLst>
      <p:ext uri="{BB962C8B-B14F-4D97-AF65-F5344CB8AC3E}">
        <p14:creationId xmlns:p14="http://schemas.microsoft.com/office/powerpoint/2010/main" val="3735770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CBA43-02A1-5FAC-4146-91B8D6F38E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1DACF22-3EE5-6FB0-76DE-73BE5C44DA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F992D6D-8F81-0E33-1F35-83BAC89BA2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489FBE-BC69-C1D3-9CDE-160DDAFD6424}"/>
              </a:ext>
            </a:extLst>
          </p:cNvPr>
          <p:cNvSpPr>
            <a:spLocks noGrp="1"/>
          </p:cNvSpPr>
          <p:nvPr>
            <p:ph type="dt" sz="half" idx="10"/>
          </p:nvPr>
        </p:nvSpPr>
        <p:spPr/>
        <p:txBody>
          <a:bodyPr/>
          <a:lstStyle/>
          <a:p>
            <a:fld id="{8872ACEA-4F2F-47FD-B208-E8DFC6EE2258}" type="datetime1">
              <a:rPr lang="en-IN" smtClean="0"/>
              <a:t>25-11-2025</a:t>
            </a:fld>
            <a:endParaRPr lang="en-IN" dirty="0"/>
          </a:p>
        </p:txBody>
      </p:sp>
      <p:sp>
        <p:nvSpPr>
          <p:cNvPr id="6" name="Footer Placeholder 5">
            <a:extLst>
              <a:ext uri="{FF2B5EF4-FFF2-40B4-BE49-F238E27FC236}">
                <a16:creationId xmlns:a16="http://schemas.microsoft.com/office/drawing/2014/main" id="{EA955B11-FC78-CB54-67C8-D49554BA601F}"/>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9460917A-20FE-3AE8-6D1A-1E1D74F0DFCE}"/>
              </a:ext>
            </a:extLst>
          </p:cNvPr>
          <p:cNvSpPr>
            <a:spLocks noGrp="1"/>
          </p:cNvSpPr>
          <p:nvPr>
            <p:ph type="sldNum" sz="quarter" idx="12"/>
          </p:nvPr>
        </p:nvSpPr>
        <p:spPr/>
        <p:txBody>
          <a:bodyPr/>
          <a:lstStyle/>
          <a:p>
            <a:fld id="{1D61E2EE-8691-4F9F-8A0A-B2A5C6D22C5B}" type="slidenum">
              <a:rPr lang="en-IN" smtClean="0"/>
              <a:t>‹#›</a:t>
            </a:fld>
            <a:endParaRPr lang="en-IN" dirty="0"/>
          </a:p>
        </p:txBody>
      </p:sp>
    </p:spTree>
    <p:extLst>
      <p:ext uri="{BB962C8B-B14F-4D97-AF65-F5344CB8AC3E}">
        <p14:creationId xmlns:p14="http://schemas.microsoft.com/office/powerpoint/2010/main" val="3148274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D05DB-6C46-9703-94FA-D9967DEB7F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3D883EB-F6C8-9009-D1D6-B4B4E8B9E4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05707BDE-8CE4-3D50-FACC-693AF785FE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2F5843-91E4-76BB-82BC-FD86B0199908}"/>
              </a:ext>
            </a:extLst>
          </p:cNvPr>
          <p:cNvSpPr>
            <a:spLocks noGrp="1"/>
          </p:cNvSpPr>
          <p:nvPr>
            <p:ph type="dt" sz="half" idx="10"/>
          </p:nvPr>
        </p:nvSpPr>
        <p:spPr/>
        <p:txBody>
          <a:bodyPr/>
          <a:lstStyle/>
          <a:p>
            <a:fld id="{6D1EAE6E-0353-40C0-BD80-8278225C1E40}" type="datetime1">
              <a:rPr lang="en-IN" smtClean="0"/>
              <a:t>25-11-2025</a:t>
            </a:fld>
            <a:endParaRPr lang="en-IN" dirty="0"/>
          </a:p>
        </p:txBody>
      </p:sp>
      <p:sp>
        <p:nvSpPr>
          <p:cNvPr id="6" name="Footer Placeholder 5">
            <a:extLst>
              <a:ext uri="{FF2B5EF4-FFF2-40B4-BE49-F238E27FC236}">
                <a16:creationId xmlns:a16="http://schemas.microsoft.com/office/drawing/2014/main" id="{CAF5F132-2FCE-44EF-0001-1F2E1E4313B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8158CC1-979F-581D-43E0-9ECB7AB396D3}"/>
              </a:ext>
            </a:extLst>
          </p:cNvPr>
          <p:cNvSpPr>
            <a:spLocks noGrp="1"/>
          </p:cNvSpPr>
          <p:nvPr>
            <p:ph type="sldNum" sz="quarter" idx="12"/>
          </p:nvPr>
        </p:nvSpPr>
        <p:spPr/>
        <p:txBody>
          <a:bodyPr/>
          <a:lstStyle/>
          <a:p>
            <a:fld id="{1D61E2EE-8691-4F9F-8A0A-B2A5C6D22C5B}" type="slidenum">
              <a:rPr lang="en-IN" smtClean="0"/>
              <a:t>‹#›</a:t>
            </a:fld>
            <a:endParaRPr lang="en-IN" dirty="0"/>
          </a:p>
        </p:txBody>
      </p:sp>
    </p:spTree>
    <p:extLst>
      <p:ext uri="{BB962C8B-B14F-4D97-AF65-F5344CB8AC3E}">
        <p14:creationId xmlns:p14="http://schemas.microsoft.com/office/powerpoint/2010/main" val="1287087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DE04B-7C68-E427-397F-C6C97E4B503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1ACADB-C76E-28C6-5BB7-86B676CE2B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D4ACD7-43C2-CA70-A170-5794BD4E0DCD}"/>
              </a:ext>
            </a:extLst>
          </p:cNvPr>
          <p:cNvSpPr>
            <a:spLocks noGrp="1"/>
          </p:cNvSpPr>
          <p:nvPr>
            <p:ph type="dt" sz="half" idx="10"/>
          </p:nvPr>
        </p:nvSpPr>
        <p:spPr/>
        <p:txBody>
          <a:bodyPr/>
          <a:lstStyle/>
          <a:p>
            <a:fld id="{70BCE6D5-A71A-4EE4-80D5-F93829A569E7}" type="datetime1">
              <a:rPr lang="en-IN" smtClean="0"/>
              <a:t>25-11-2025</a:t>
            </a:fld>
            <a:endParaRPr lang="en-IN" dirty="0"/>
          </a:p>
        </p:txBody>
      </p:sp>
      <p:sp>
        <p:nvSpPr>
          <p:cNvPr id="5" name="Footer Placeholder 4">
            <a:extLst>
              <a:ext uri="{FF2B5EF4-FFF2-40B4-BE49-F238E27FC236}">
                <a16:creationId xmlns:a16="http://schemas.microsoft.com/office/drawing/2014/main" id="{9825DDB0-7835-1E68-5DF4-EF6DF38A6E4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29DE8F5-266D-110F-DAD4-A789CD4F9EF5}"/>
              </a:ext>
            </a:extLst>
          </p:cNvPr>
          <p:cNvSpPr>
            <a:spLocks noGrp="1"/>
          </p:cNvSpPr>
          <p:nvPr>
            <p:ph type="sldNum" sz="quarter" idx="12"/>
          </p:nvPr>
        </p:nvSpPr>
        <p:spPr/>
        <p:txBody>
          <a:bodyPr/>
          <a:lstStyle/>
          <a:p>
            <a:fld id="{1D61E2EE-8691-4F9F-8A0A-B2A5C6D22C5B}" type="slidenum">
              <a:rPr lang="en-IN" smtClean="0"/>
              <a:t>‹#›</a:t>
            </a:fld>
            <a:endParaRPr lang="en-IN" dirty="0"/>
          </a:p>
        </p:txBody>
      </p:sp>
    </p:spTree>
    <p:extLst>
      <p:ext uri="{BB962C8B-B14F-4D97-AF65-F5344CB8AC3E}">
        <p14:creationId xmlns:p14="http://schemas.microsoft.com/office/powerpoint/2010/main" val="1383674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8590DD-A1E2-EFA2-23C9-FF2B09F74C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2CDBDF-40D1-AC75-DAD6-94C8F92A0E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236BD8-882E-E856-8FCD-A3FE2A9C14E7}"/>
              </a:ext>
            </a:extLst>
          </p:cNvPr>
          <p:cNvSpPr>
            <a:spLocks noGrp="1"/>
          </p:cNvSpPr>
          <p:nvPr>
            <p:ph type="dt" sz="half" idx="10"/>
          </p:nvPr>
        </p:nvSpPr>
        <p:spPr/>
        <p:txBody>
          <a:bodyPr/>
          <a:lstStyle/>
          <a:p>
            <a:fld id="{8DD9BEE1-7E23-4D79-AE5B-097FC71A1C5A}" type="datetime1">
              <a:rPr lang="en-IN" smtClean="0"/>
              <a:t>25-11-2025</a:t>
            </a:fld>
            <a:endParaRPr lang="en-IN" dirty="0"/>
          </a:p>
        </p:txBody>
      </p:sp>
      <p:sp>
        <p:nvSpPr>
          <p:cNvPr id="5" name="Footer Placeholder 4">
            <a:extLst>
              <a:ext uri="{FF2B5EF4-FFF2-40B4-BE49-F238E27FC236}">
                <a16:creationId xmlns:a16="http://schemas.microsoft.com/office/drawing/2014/main" id="{E06B601A-BCB5-DDE3-6684-C67596A2953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6C4C75B-2077-B997-4089-6323BD387B98}"/>
              </a:ext>
            </a:extLst>
          </p:cNvPr>
          <p:cNvSpPr>
            <a:spLocks noGrp="1"/>
          </p:cNvSpPr>
          <p:nvPr>
            <p:ph type="sldNum" sz="quarter" idx="12"/>
          </p:nvPr>
        </p:nvSpPr>
        <p:spPr/>
        <p:txBody>
          <a:bodyPr/>
          <a:lstStyle/>
          <a:p>
            <a:fld id="{1D61E2EE-8691-4F9F-8A0A-B2A5C6D22C5B}" type="slidenum">
              <a:rPr lang="en-IN" smtClean="0"/>
              <a:t>‹#›</a:t>
            </a:fld>
            <a:endParaRPr lang="en-IN" dirty="0"/>
          </a:p>
        </p:txBody>
      </p:sp>
    </p:spTree>
    <p:extLst>
      <p:ext uri="{BB962C8B-B14F-4D97-AF65-F5344CB8AC3E}">
        <p14:creationId xmlns:p14="http://schemas.microsoft.com/office/powerpoint/2010/main" val="3306074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0E321C-FF16-6C6F-8446-44E3E40FA2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97BC24-8732-6A19-0CC5-95B49537C6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BD7EF7-6628-FC57-EFD6-D4CB55CE35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A47098-E7DB-419A-B46D-E31A4FCEDAC3}" type="datetime1">
              <a:rPr lang="en-IN" smtClean="0"/>
              <a:t>25-11-2025</a:t>
            </a:fld>
            <a:endParaRPr lang="en-IN" dirty="0"/>
          </a:p>
        </p:txBody>
      </p:sp>
      <p:sp>
        <p:nvSpPr>
          <p:cNvPr id="5" name="Footer Placeholder 4">
            <a:extLst>
              <a:ext uri="{FF2B5EF4-FFF2-40B4-BE49-F238E27FC236}">
                <a16:creationId xmlns:a16="http://schemas.microsoft.com/office/drawing/2014/main" id="{EF38CB01-F2D9-B851-4ADD-753847B8C2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4798B403-062E-6721-3489-F9F67B3AFE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61E2EE-8691-4F9F-8A0A-B2A5C6D22C5B}" type="slidenum">
              <a:rPr lang="en-IN" smtClean="0"/>
              <a:t>‹#›</a:t>
            </a:fld>
            <a:endParaRPr lang="en-IN" dirty="0"/>
          </a:p>
        </p:txBody>
      </p:sp>
    </p:spTree>
    <p:extLst>
      <p:ext uri="{BB962C8B-B14F-4D97-AF65-F5344CB8AC3E}">
        <p14:creationId xmlns:p14="http://schemas.microsoft.com/office/powerpoint/2010/main" val="641367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E74F51-B983-6E15-D4F7-3C10AF660BC6}"/>
              </a:ext>
            </a:extLst>
          </p:cNvPr>
          <p:cNvSpPr txBox="1"/>
          <p:nvPr/>
        </p:nvSpPr>
        <p:spPr>
          <a:xfrm>
            <a:off x="2488677" y="1950412"/>
            <a:ext cx="6495068" cy="830997"/>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ULTRASONIC SENSORED SPECTACLES FOR BLIND</a:t>
            </a:r>
            <a:endParaRPr lang="en-IN" sz="2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03D8629-0410-C582-FA86-1081ABEB0B8F}"/>
              </a:ext>
            </a:extLst>
          </p:cNvPr>
          <p:cNvSpPr txBox="1"/>
          <p:nvPr/>
        </p:nvSpPr>
        <p:spPr>
          <a:xfrm>
            <a:off x="3801653" y="3133569"/>
            <a:ext cx="4123600" cy="707886"/>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Department of Information                             Technology</a:t>
            </a:r>
            <a:endParaRPr lang="en-IN" sz="2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298CD4D-DFED-3880-89A2-3AF1F5189BE3}"/>
              </a:ext>
            </a:extLst>
          </p:cNvPr>
          <p:cNvSpPr txBox="1"/>
          <p:nvPr/>
        </p:nvSpPr>
        <p:spPr>
          <a:xfrm>
            <a:off x="7497610" y="4179350"/>
            <a:ext cx="3163320" cy="203132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Submitted By:</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Balasubramaniyam S   (U22IT006</a:t>
            </a:r>
            <a:r>
              <a:rPr lang="en-IN" dirty="0"/>
              <a:t>)</a:t>
            </a:r>
          </a:p>
          <a:p>
            <a:r>
              <a:rPr lang="en-IN" dirty="0">
                <a:latin typeface="Times New Roman" panose="02020603050405020304" pitchFamily="18" charset="0"/>
                <a:cs typeface="Times New Roman" panose="02020603050405020304" pitchFamily="18" charset="0"/>
              </a:rPr>
              <a:t>Mohammed sitthik A (U22IT026)</a:t>
            </a:r>
          </a:p>
          <a:p>
            <a:r>
              <a:rPr lang="en-IN" dirty="0">
                <a:latin typeface="Times New Roman" panose="02020603050405020304" pitchFamily="18" charset="0"/>
                <a:cs typeface="Times New Roman" panose="02020603050405020304" pitchFamily="18" charset="0"/>
              </a:rPr>
              <a:t>Tharuneeshwaran A S (U22IT049)</a:t>
            </a:r>
            <a:endParaRPr lang="en-US" dirty="0"/>
          </a:p>
        </p:txBody>
      </p:sp>
      <p:sp>
        <p:nvSpPr>
          <p:cNvPr id="13" name="TextBox 12">
            <a:extLst>
              <a:ext uri="{FF2B5EF4-FFF2-40B4-BE49-F238E27FC236}">
                <a16:creationId xmlns:a16="http://schemas.microsoft.com/office/drawing/2014/main" id="{6682C28A-9088-3031-D11F-901F32A9C1E1}"/>
              </a:ext>
            </a:extLst>
          </p:cNvPr>
          <p:cNvSpPr txBox="1"/>
          <p:nvPr/>
        </p:nvSpPr>
        <p:spPr>
          <a:xfrm>
            <a:off x="1304041" y="4327151"/>
            <a:ext cx="3825663" cy="1477328"/>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Guided By:</a:t>
            </a:r>
          </a:p>
          <a:p>
            <a:r>
              <a:rPr lang="en-US" dirty="0" err="1">
                <a:latin typeface="Times New Roman" panose="02020603050405020304" pitchFamily="18" charset="0"/>
                <a:cs typeface="Times New Roman" panose="02020603050405020304" pitchFamily="18" charset="0"/>
              </a:rPr>
              <a:t>Dr.R.Yogesh</a:t>
            </a:r>
            <a:r>
              <a:rPr lang="en-US" dirty="0">
                <a:latin typeface="Times New Roman" panose="02020603050405020304" pitchFamily="18" charset="0"/>
                <a:cs typeface="Times New Roman" panose="02020603050405020304" pitchFamily="18" charset="0"/>
              </a:rPr>
              <a:t> Rajkumar</a:t>
            </a:r>
          </a:p>
          <a:p>
            <a:r>
              <a:rPr lang="en-US" dirty="0">
                <a:latin typeface="Times New Roman" panose="02020603050405020304" pitchFamily="18" charset="0"/>
                <a:cs typeface="Times New Roman" panose="02020603050405020304" pitchFamily="18" charset="0"/>
              </a:rPr>
              <a:t>Assistant Professor</a:t>
            </a:r>
          </a:p>
          <a:p>
            <a:r>
              <a:rPr lang="en-US" dirty="0">
                <a:latin typeface="Times New Roman" panose="02020603050405020304" pitchFamily="18" charset="0"/>
                <a:cs typeface="Times New Roman" panose="02020603050405020304" pitchFamily="18" charset="0"/>
              </a:rPr>
              <a:t>Department of Information Technology</a:t>
            </a:r>
          </a:p>
          <a:p>
            <a:r>
              <a:rPr lang="en-US" dirty="0">
                <a:latin typeface="Times New Roman" panose="02020603050405020304" pitchFamily="18" charset="0"/>
                <a:cs typeface="Times New Roman" panose="02020603050405020304" pitchFamily="18" charset="0"/>
              </a:rPr>
              <a:t>BIHER.</a:t>
            </a:r>
            <a:endParaRPr lang="en-IN" dirty="0">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75FE63BC-8D55-2F1B-F150-65ABDFE92A97}"/>
              </a:ext>
            </a:extLst>
          </p:cNvPr>
          <p:cNvSpPr>
            <a:spLocks noGrp="1"/>
          </p:cNvSpPr>
          <p:nvPr>
            <p:ph type="dt" sz="half" idx="10"/>
          </p:nvPr>
        </p:nvSpPr>
        <p:spPr/>
        <p:txBody>
          <a:bodyPr/>
          <a:lstStyle/>
          <a:p>
            <a:fld id="{B2D4BD7C-55BC-4511-851E-8389BD017B52}" type="datetime1">
              <a:rPr lang="en-IN" smtClean="0"/>
              <a:t>25-11-2025</a:t>
            </a:fld>
            <a:endParaRPr lang="en-IN" dirty="0"/>
          </a:p>
        </p:txBody>
      </p:sp>
      <p:sp>
        <p:nvSpPr>
          <p:cNvPr id="7" name="Slide Number Placeholder 6">
            <a:extLst>
              <a:ext uri="{FF2B5EF4-FFF2-40B4-BE49-F238E27FC236}">
                <a16:creationId xmlns:a16="http://schemas.microsoft.com/office/drawing/2014/main" id="{E9D6F80A-3621-6B75-A192-9034C89C35AE}"/>
              </a:ext>
            </a:extLst>
          </p:cNvPr>
          <p:cNvSpPr>
            <a:spLocks noGrp="1"/>
          </p:cNvSpPr>
          <p:nvPr>
            <p:ph type="sldNum" sz="quarter" idx="12"/>
          </p:nvPr>
        </p:nvSpPr>
        <p:spPr/>
        <p:txBody>
          <a:bodyPr/>
          <a:lstStyle/>
          <a:p>
            <a:fld id="{1D61E2EE-8691-4F9F-8A0A-B2A5C6D22C5B}" type="slidenum">
              <a:rPr lang="en-IN" smtClean="0"/>
              <a:t>1</a:t>
            </a:fld>
            <a:endParaRPr lang="en-IN" dirty="0"/>
          </a:p>
        </p:txBody>
      </p:sp>
      <p:pic>
        <p:nvPicPr>
          <p:cNvPr id="8" name="Picture 7">
            <a:extLst>
              <a:ext uri="{FF2B5EF4-FFF2-40B4-BE49-F238E27FC236}">
                <a16:creationId xmlns:a16="http://schemas.microsoft.com/office/drawing/2014/main" id="{27DD434C-0783-D026-1F08-3054A149F5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0583" y="0"/>
            <a:ext cx="11406540" cy="1804737"/>
          </a:xfrm>
          <a:prstGeom prst="rect">
            <a:avLst/>
          </a:prstGeom>
        </p:spPr>
      </p:pic>
    </p:spTree>
    <p:extLst>
      <p:ext uri="{BB962C8B-B14F-4D97-AF65-F5344CB8AC3E}">
        <p14:creationId xmlns:p14="http://schemas.microsoft.com/office/powerpoint/2010/main" val="3254191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1DEE2E-C5A2-88C9-6697-053CC89BACE3}"/>
              </a:ext>
            </a:extLst>
          </p:cNvPr>
          <p:cNvSpPr txBox="1"/>
          <p:nvPr/>
        </p:nvSpPr>
        <p:spPr>
          <a:xfrm>
            <a:off x="1875935" y="1423446"/>
            <a:ext cx="8352148" cy="4093428"/>
          </a:xfrm>
          <a:prstGeom prst="rect">
            <a:avLst/>
          </a:prstGeom>
          <a:noFill/>
        </p:spPr>
        <p:txBody>
          <a:bodyPr wrap="square" rtlCol="0">
            <a:spAutoFit/>
          </a:bodyPr>
          <a:lstStyle/>
          <a:p>
            <a:pPr marL="285750" indent="-285750">
              <a:buClr>
                <a:schemeClr val="tx1"/>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Abstract</a:t>
            </a:r>
          </a:p>
          <a:p>
            <a:pPr marL="285750" indent="-285750">
              <a:buClr>
                <a:schemeClr val="tx1"/>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Introduction</a:t>
            </a:r>
          </a:p>
          <a:p>
            <a:pPr marL="285750" indent="-285750">
              <a:buClr>
                <a:schemeClr val="tx1"/>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Applications</a:t>
            </a:r>
          </a:p>
          <a:p>
            <a:pPr marL="285750" indent="-285750">
              <a:buClr>
                <a:schemeClr val="tx1"/>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Literature Survey</a:t>
            </a:r>
          </a:p>
          <a:p>
            <a:pPr marL="285750" indent="-285750">
              <a:buClr>
                <a:schemeClr val="tx1"/>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Motivation</a:t>
            </a:r>
          </a:p>
          <a:p>
            <a:pPr marL="285750" indent="-285750">
              <a:buClr>
                <a:schemeClr val="tx1"/>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Objective</a:t>
            </a:r>
          </a:p>
          <a:p>
            <a:pPr marL="285750" indent="-285750">
              <a:buClr>
                <a:schemeClr val="tx1"/>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Proposed Work</a:t>
            </a:r>
          </a:p>
          <a:p>
            <a:pPr marL="285750" indent="-285750">
              <a:buClr>
                <a:schemeClr val="tx1"/>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Implementation</a:t>
            </a:r>
          </a:p>
          <a:p>
            <a:pPr marL="285750" indent="-285750">
              <a:buClr>
                <a:schemeClr val="tx1"/>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Results and Discussion</a:t>
            </a:r>
          </a:p>
          <a:p>
            <a:pPr marL="285750" indent="-285750">
              <a:buClr>
                <a:schemeClr val="tx1"/>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Conclusion</a:t>
            </a:r>
          </a:p>
          <a:p>
            <a:pPr marL="285750" indent="-285750">
              <a:buClr>
                <a:schemeClr val="tx1"/>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Future Work</a:t>
            </a:r>
          </a:p>
          <a:p>
            <a:pPr marL="285750" indent="-285750">
              <a:buClr>
                <a:schemeClr val="tx1"/>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Publication</a:t>
            </a:r>
          </a:p>
          <a:p>
            <a:pPr marL="285750" indent="-285750">
              <a:buClr>
                <a:schemeClr val="tx1"/>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References</a:t>
            </a:r>
          </a:p>
        </p:txBody>
      </p:sp>
      <p:pic>
        <p:nvPicPr>
          <p:cNvPr id="9" name="Picture 8" descr="A logo of a company&#10;&#10;Description automatically generated">
            <a:extLst>
              <a:ext uri="{FF2B5EF4-FFF2-40B4-BE49-F238E27FC236}">
                <a16:creationId xmlns:a16="http://schemas.microsoft.com/office/drawing/2014/main" id="{CD63B5A0-DFED-58A9-A78A-3B3F995A7ABD}"/>
              </a:ext>
            </a:extLst>
          </p:cNvPr>
          <p:cNvPicPr>
            <a:picLocks noChangeAspect="1" noChangeArrowheads="1"/>
          </p:cNvPicPr>
          <p:nvPr/>
        </p:nvPicPr>
        <p:blipFill>
          <a:blip r:embed="rId2"/>
          <a:srcRect/>
          <a:stretch>
            <a:fillRect/>
          </a:stretch>
        </p:blipFill>
        <p:spPr bwMode="auto">
          <a:xfrm>
            <a:off x="10878531" y="111965"/>
            <a:ext cx="1064503" cy="993816"/>
          </a:xfrm>
          <a:prstGeom prst="rect">
            <a:avLst/>
          </a:prstGeom>
          <a:noFill/>
        </p:spPr>
      </p:pic>
      <p:sp>
        <p:nvSpPr>
          <p:cNvPr id="10" name="TextBox 9">
            <a:extLst>
              <a:ext uri="{FF2B5EF4-FFF2-40B4-BE49-F238E27FC236}">
                <a16:creationId xmlns:a16="http://schemas.microsoft.com/office/drawing/2014/main" id="{F212980B-F979-28E1-5EE9-D7078061C18D}"/>
              </a:ext>
            </a:extLst>
          </p:cNvPr>
          <p:cNvSpPr txBox="1"/>
          <p:nvPr/>
        </p:nvSpPr>
        <p:spPr>
          <a:xfrm>
            <a:off x="4986779" y="678730"/>
            <a:ext cx="1879041"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CONTENTS</a:t>
            </a:r>
            <a:endParaRPr lang="en-IN" sz="2400" b="1"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1DB0C0AE-E637-A832-494A-7AA7B62933B7}"/>
              </a:ext>
            </a:extLst>
          </p:cNvPr>
          <p:cNvSpPr>
            <a:spLocks noGrp="1"/>
          </p:cNvSpPr>
          <p:nvPr>
            <p:ph type="dt" sz="half" idx="10"/>
          </p:nvPr>
        </p:nvSpPr>
        <p:spPr/>
        <p:txBody>
          <a:bodyPr/>
          <a:lstStyle/>
          <a:p>
            <a:fld id="{18F90E21-C772-42DD-98E7-6F9C4A1E02BD}" type="datetime1">
              <a:rPr lang="en-IN" smtClean="0"/>
              <a:t>25-11-2025</a:t>
            </a:fld>
            <a:endParaRPr lang="en-IN" dirty="0"/>
          </a:p>
        </p:txBody>
      </p:sp>
      <p:sp>
        <p:nvSpPr>
          <p:cNvPr id="4" name="Slide Number Placeholder 3">
            <a:extLst>
              <a:ext uri="{FF2B5EF4-FFF2-40B4-BE49-F238E27FC236}">
                <a16:creationId xmlns:a16="http://schemas.microsoft.com/office/drawing/2014/main" id="{D322D5B6-63C8-EB47-57EE-0856FE15D7BE}"/>
              </a:ext>
            </a:extLst>
          </p:cNvPr>
          <p:cNvSpPr>
            <a:spLocks noGrp="1"/>
          </p:cNvSpPr>
          <p:nvPr>
            <p:ph type="sldNum" sz="quarter" idx="12"/>
          </p:nvPr>
        </p:nvSpPr>
        <p:spPr/>
        <p:txBody>
          <a:bodyPr/>
          <a:lstStyle/>
          <a:p>
            <a:fld id="{1D61E2EE-8691-4F9F-8A0A-B2A5C6D22C5B}" type="slidenum">
              <a:rPr lang="en-IN" smtClean="0"/>
              <a:t>2</a:t>
            </a:fld>
            <a:endParaRPr lang="en-IN" dirty="0"/>
          </a:p>
        </p:txBody>
      </p:sp>
    </p:spTree>
    <p:extLst>
      <p:ext uri="{BB962C8B-B14F-4D97-AF65-F5344CB8AC3E}">
        <p14:creationId xmlns:p14="http://schemas.microsoft.com/office/powerpoint/2010/main" val="3096872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743C98-D6F6-E817-C07F-B2EA794D1CA4}"/>
              </a:ext>
            </a:extLst>
          </p:cNvPr>
          <p:cNvSpPr txBox="1"/>
          <p:nvPr/>
        </p:nvSpPr>
        <p:spPr>
          <a:xfrm>
            <a:off x="0" y="0"/>
            <a:ext cx="12192000" cy="6389570"/>
          </a:xfrm>
          <a:prstGeom prst="rect">
            <a:avLst/>
          </a:prstGeom>
          <a:noFill/>
        </p:spPr>
        <p:txBody>
          <a:bodyPr wrap="square" rtlCol="0">
            <a:spAutoFit/>
          </a:bodyPr>
          <a:lstStyle/>
          <a:p>
            <a:pPr>
              <a:lnSpc>
                <a:spcPct val="150000"/>
              </a:lnSpc>
            </a:pPr>
            <a:r>
              <a:rPr lang="en-US" b="1" dirty="0">
                <a:latin typeface="Times New Roman" pitchFamily="18" charset="0"/>
                <a:cs typeface="Times New Roman" pitchFamily="18" charset="0"/>
              </a:rPr>
              <a:t>                                                                         </a:t>
            </a:r>
            <a:r>
              <a:rPr lang="en-US" sz="2400" b="1" dirty="0">
                <a:latin typeface="Times New Roman" pitchFamily="18" charset="0"/>
                <a:cs typeface="Times New Roman" pitchFamily="18" charset="0"/>
              </a:rPr>
              <a:t>INTRODUCTION</a:t>
            </a:r>
          </a:p>
          <a:p>
            <a:pPr algn="just">
              <a:lnSpc>
                <a:spcPct val="150000"/>
              </a:lnSpc>
            </a:pPr>
            <a:endParaRPr lang="en-US" b="1" dirty="0">
              <a:latin typeface="Times New Roman" pitchFamily="18" charset="0"/>
              <a:cs typeface="Times New Roman" pitchFamily="18" charset="0"/>
            </a:endParaRPr>
          </a:p>
          <a:p>
            <a:pPr marL="342900" indent="-342900" algn="just">
              <a:buFont typeface="Wingdings" panose="05000000000000000000" pitchFamily="2" charset="2"/>
              <a:buChar char="v"/>
            </a:pPr>
            <a:r>
              <a:rPr lang="en-US" sz="2000" dirty="0">
                <a:latin typeface="Times New Roman" pitchFamily="18" charset="0"/>
                <a:cs typeface="Times New Roman" pitchFamily="18" charset="0"/>
              </a:rPr>
              <a:t>Blind people are usually dependent on assistance from others. The assistance can be from human beings, dogs or some special electronic devices. There are already many existing devices which help a blind person in walking. The most common is the simple walking stick or cane. The blind man uses it to detect the obstacles by sweeping the cane back and forth but unfortunately sometimes the blind man gets aware about the obstacle too late. With the recent advances in technology normal walking can has been modified to a blind glasses with an ultrasonic sensor attached to it. It has several limitations. Therefore, the solution that has been portrayed is cost effective, reliable, robust and portable device which would help a blind person to walk on the streets almost like any other pedestrian. </a:t>
            </a:r>
          </a:p>
          <a:p>
            <a:pPr marL="342900" indent="-342900" algn="just">
              <a:buFont typeface="Wingdings" panose="05000000000000000000" pitchFamily="2" charset="2"/>
              <a:buChar char="v"/>
            </a:pPr>
            <a:endParaRPr lang="en-US" sz="2000" dirty="0">
              <a:latin typeface="Times New Roman" pitchFamily="18" charset="0"/>
              <a:cs typeface="Times New Roman" pitchFamily="18" charset="0"/>
            </a:endParaRPr>
          </a:p>
          <a:p>
            <a:pPr marL="342900" indent="-342900" algn="just">
              <a:buFont typeface="Wingdings" panose="05000000000000000000" pitchFamily="2" charset="2"/>
              <a:buChar char="v"/>
            </a:pPr>
            <a:r>
              <a:rPr lang="en-US" sz="2000" dirty="0">
                <a:latin typeface="Times New Roman" pitchFamily="18" charset="0"/>
                <a:cs typeface="Times New Roman" pitchFamily="18" charset="0"/>
              </a:rPr>
              <a:t>This project aims to design and develop a lightweight, affordable, and wearable device that can enhance the confidence and mobility of visually impaired individuals, making everyday navigation more convenient and secure.</a:t>
            </a:r>
          </a:p>
          <a:p>
            <a:pPr marL="342900" indent="-342900" algn="just">
              <a:buFont typeface="Wingdings" panose="05000000000000000000" pitchFamily="2" charset="2"/>
              <a:buChar char="v"/>
            </a:pPr>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marL="342900" indent="-342900" algn="just">
              <a:buFont typeface="Wingdings" panose="05000000000000000000" pitchFamily="2" charset="2"/>
              <a:buChar char="v"/>
            </a:pPr>
            <a:endParaRPr lang="en-US" sz="2400" dirty="0">
              <a:latin typeface="Times New Roman" pitchFamily="18" charset="0"/>
              <a:cs typeface="Times New Roman" pitchFamily="18" charset="0"/>
            </a:endParaRPr>
          </a:p>
          <a:p>
            <a:pPr marL="285750" indent="-285750" algn="just">
              <a:lnSpc>
                <a:spcPct val="150000"/>
              </a:lnSpc>
              <a:buFont typeface="Wingdings" panose="05000000000000000000" pitchFamily="2" charset="2"/>
              <a:buChar char="v"/>
            </a:pPr>
            <a:endParaRPr lang="en-US" sz="2000" dirty="0">
              <a:latin typeface="Times New Roman" pitchFamily="18" charset="0"/>
              <a:cs typeface="Times New Roman" pitchFamily="18" charset="0"/>
            </a:endParaRPr>
          </a:p>
          <a:p>
            <a:pPr marL="285750" indent="-285750">
              <a:lnSpc>
                <a:spcPct val="150000"/>
              </a:lnSpc>
              <a:buFont typeface="Wingdings" panose="05000000000000000000" pitchFamily="2" charset="2"/>
              <a:buChar char="v"/>
            </a:pPr>
            <a:endParaRPr lang="en-IN" dirty="0"/>
          </a:p>
        </p:txBody>
      </p:sp>
      <p:sp>
        <p:nvSpPr>
          <p:cNvPr id="3" name="TextBox 2">
            <a:extLst>
              <a:ext uri="{FF2B5EF4-FFF2-40B4-BE49-F238E27FC236}">
                <a16:creationId xmlns:a16="http://schemas.microsoft.com/office/drawing/2014/main" id="{EBBE0A3D-B339-AF73-1893-F5017C9042EE}"/>
              </a:ext>
            </a:extLst>
          </p:cNvPr>
          <p:cNvSpPr txBox="1"/>
          <p:nvPr/>
        </p:nvSpPr>
        <p:spPr>
          <a:xfrm>
            <a:off x="0" y="5486400"/>
            <a:ext cx="12192000" cy="738664"/>
          </a:xfrm>
          <a:prstGeom prst="rect">
            <a:avLst/>
          </a:prstGeom>
          <a:noFill/>
        </p:spPr>
        <p:txBody>
          <a:bodyPr wrap="square" rtlCol="0">
            <a:spAutoFit/>
          </a:bodyPr>
          <a:lstStyle/>
          <a:p>
            <a:pPr>
              <a:lnSpc>
                <a:spcPct val="150000"/>
              </a:lnSpc>
            </a:pPr>
            <a:endParaRPr lang="en-US" sz="1600" dirty="0">
              <a:latin typeface="Times New Roman" pitchFamily="18" charset="0"/>
              <a:cs typeface="Times New Roman" pitchFamily="18" charset="0"/>
            </a:endParaRPr>
          </a:p>
          <a:p>
            <a:endParaRPr lang="en-IN" dirty="0"/>
          </a:p>
        </p:txBody>
      </p:sp>
      <p:pic>
        <p:nvPicPr>
          <p:cNvPr id="5" name="Picture 4" descr="A logo of a company&#10;&#10;Description automatically generated">
            <a:extLst>
              <a:ext uri="{FF2B5EF4-FFF2-40B4-BE49-F238E27FC236}">
                <a16:creationId xmlns:a16="http://schemas.microsoft.com/office/drawing/2014/main" id="{87237942-4082-4963-610D-6DCBDAE3B2C0}"/>
              </a:ext>
            </a:extLst>
          </p:cNvPr>
          <p:cNvPicPr>
            <a:picLocks noChangeAspect="1" noChangeArrowheads="1"/>
          </p:cNvPicPr>
          <p:nvPr/>
        </p:nvPicPr>
        <p:blipFill>
          <a:blip r:embed="rId2"/>
          <a:srcRect/>
          <a:stretch>
            <a:fillRect/>
          </a:stretch>
        </p:blipFill>
        <p:spPr bwMode="auto">
          <a:xfrm>
            <a:off x="10855956" y="71121"/>
            <a:ext cx="1214124" cy="863600"/>
          </a:xfrm>
          <a:prstGeom prst="rect">
            <a:avLst/>
          </a:prstGeom>
          <a:noFill/>
        </p:spPr>
      </p:pic>
      <p:sp>
        <p:nvSpPr>
          <p:cNvPr id="4" name="Date Placeholder 3">
            <a:extLst>
              <a:ext uri="{FF2B5EF4-FFF2-40B4-BE49-F238E27FC236}">
                <a16:creationId xmlns:a16="http://schemas.microsoft.com/office/drawing/2014/main" id="{880800D5-4DD8-4531-3858-6AE16D97CAEB}"/>
              </a:ext>
            </a:extLst>
          </p:cNvPr>
          <p:cNvSpPr>
            <a:spLocks noGrp="1"/>
          </p:cNvSpPr>
          <p:nvPr>
            <p:ph type="dt" sz="half" idx="10"/>
          </p:nvPr>
        </p:nvSpPr>
        <p:spPr/>
        <p:txBody>
          <a:bodyPr/>
          <a:lstStyle/>
          <a:p>
            <a:fld id="{117CF1B8-AEA9-487E-A3F5-7A12291A376B}" type="datetime1">
              <a:rPr lang="en-IN" smtClean="0"/>
              <a:t>25-11-2025</a:t>
            </a:fld>
            <a:endParaRPr lang="en-IN" dirty="0"/>
          </a:p>
        </p:txBody>
      </p:sp>
      <p:sp>
        <p:nvSpPr>
          <p:cNvPr id="6" name="Slide Number Placeholder 5">
            <a:extLst>
              <a:ext uri="{FF2B5EF4-FFF2-40B4-BE49-F238E27FC236}">
                <a16:creationId xmlns:a16="http://schemas.microsoft.com/office/drawing/2014/main" id="{488A5857-C8A7-77D7-DF16-9A66B9C33FE0}"/>
              </a:ext>
            </a:extLst>
          </p:cNvPr>
          <p:cNvSpPr>
            <a:spLocks noGrp="1"/>
          </p:cNvSpPr>
          <p:nvPr>
            <p:ph type="sldNum" sz="quarter" idx="12"/>
          </p:nvPr>
        </p:nvSpPr>
        <p:spPr/>
        <p:txBody>
          <a:bodyPr/>
          <a:lstStyle/>
          <a:p>
            <a:fld id="{1D61E2EE-8691-4F9F-8A0A-B2A5C6D22C5B}" type="slidenum">
              <a:rPr lang="en-IN" smtClean="0"/>
              <a:t>3</a:t>
            </a:fld>
            <a:endParaRPr lang="en-IN" dirty="0"/>
          </a:p>
        </p:txBody>
      </p:sp>
    </p:spTree>
    <p:extLst>
      <p:ext uri="{BB962C8B-B14F-4D97-AF65-F5344CB8AC3E}">
        <p14:creationId xmlns:p14="http://schemas.microsoft.com/office/powerpoint/2010/main" val="1694142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5AAD12-A93F-0317-9F03-83ABAF51F55D}"/>
              </a:ext>
            </a:extLst>
          </p:cNvPr>
          <p:cNvSpPr txBox="1"/>
          <p:nvPr/>
        </p:nvSpPr>
        <p:spPr>
          <a:xfrm>
            <a:off x="0" y="292230"/>
            <a:ext cx="12191999" cy="6955750"/>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APPLICATIONS</a:t>
            </a:r>
          </a:p>
          <a:p>
            <a:pPr algn="ctr"/>
            <a:endParaRPr lang="en-US" dirty="0">
              <a:latin typeface="Times New Roman" panose="02020603050405020304" pitchFamily="18" charset="0"/>
              <a:cs typeface="Times New Roman" panose="02020603050405020304" pitchFamily="18" charset="0"/>
            </a:endParaRPr>
          </a:p>
          <a:p>
            <a:endParaRPr lang="en-US" sz="1400" dirty="0"/>
          </a:p>
          <a:p>
            <a:pPr algn="just"/>
            <a:r>
              <a:rPr lang="en-US" sz="24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Ultrasonic Sensor–Based Spectacles have a wide range of practical applications, especially aimed at improving the quality of life for visually impaired individuals.</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Assistance for Visually Impaired People</a:t>
            </a:r>
          </a:p>
          <a:p>
            <a:pPr algn="just"/>
            <a:r>
              <a:rPr lang="en-US" sz="2000" dirty="0">
                <a:latin typeface="Times New Roman" panose="02020603050405020304" pitchFamily="18" charset="0"/>
                <a:cs typeface="Times New Roman" panose="02020603050405020304" pitchFamily="18" charset="0"/>
              </a:rPr>
              <a:t>            Helps visually challenged users detect obstacles and navigate safely in unfamiliar environments.</a:t>
            </a:r>
          </a:p>
          <a:p>
            <a:pPr marL="285750" indent="-285750"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Indoor and Outdoor Navigation</a:t>
            </a:r>
          </a:p>
          <a:p>
            <a:pPr algn="just"/>
            <a:r>
              <a:rPr lang="en-US" sz="2000" dirty="0">
                <a:latin typeface="Times New Roman" panose="02020603050405020304" pitchFamily="18" charset="0"/>
                <a:cs typeface="Times New Roman" panose="02020603050405020304" pitchFamily="18" charset="0"/>
              </a:rPr>
              <a:t>             Useful for safe movement in homes, offices, schools, and public spaces.</a:t>
            </a:r>
          </a:p>
          <a:p>
            <a:pPr marL="285750" indent="-285750"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Smart Wearable Technology</a:t>
            </a:r>
          </a:p>
          <a:p>
            <a:pPr algn="just"/>
            <a:r>
              <a:rPr lang="en-US" sz="2000" dirty="0">
                <a:latin typeface="Times New Roman" panose="02020603050405020304" pitchFamily="18" charset="0"/>
                <a:cs typeface="Times New Roman" panose="02020603050405020304" pitchFamily="18" charset="0"/>
              </a:rPr>
              <a:t>              Forms a foundation for future smart assistive wearables that combine sensors, AI, and IoT for advanced mobility support.</a:t>
            </a:r>
          </a:p>
          <a:p>
            <a:pPr marL="285750" indent="-285750" algn="just">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 Obstacle Detection in Robotics</a:t>
            </a:r>
          </a:p>
          <a:p>
            <a:pPr algn="just"/>
            <a:r>
              <a:rPr lang="en-US" sz="2000" dirty="0">
                <a:latin typeface="Times New Roman" panose="02020603050405020304" pitchFamily="18" charset="0"/>
                <a:cs typeface="Times New Roman" panose="02020603050405020304" pitchFamily="18" charset="0"/>
              </a:rPr>
              <a:t>             The same ultrasonic sensing principle can be applied in autonomous robots, wheelchairs, and guidance systems for obstacle detection and path planning.</a:t>
            </a:r>
          </a:p>
          <a:p>
            <a:pPr algn="just">
              <a:lnSpc>
                <a:spcPct val="100000"/>
              </a:lnSpc>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a:t>
            </a:r>
          </a:p>
          <a:p>
            <a:endParaRPr lang="en-IN" dirty="0"/>
          </a:p>
        </p:txBody>
      </p:sp>
      <p:pic>
        <p:nvPicPr>
          <p:cNvPr id="3" name="Picture 2" descr="A logo of a company&#10;&#10;Description automatically generated">
            <a:extLst>
              <a:ext uri="{FF2B5EF4-FFF2-40B4-BE49-F238E27FC236}">
                <a16:creationId xmlns:a16="http://schemas.microsoft.com/office/drawing/2014/main" id="{E264ACD6-85CF-34CB-2C2E-9A05F844A37B}"/>
              </a:ext>
            </a:extLst>
          </p:cNvPr>
          <p:cNvPicPr>
            <a:picLocks noChangeAspect="1" noChangeArrowheads="1"/>
          </p:cNvPicPr>
          <p:nvPr/>
        </p:nvPicPr>
        <p:blipFill>
          <a:blip r:embed="rId2"/>
          <a:srcRect/>
          <a:stretch>
            <a:fillRect/>
          </a:stretch>
        </p:blipFill>
        <p:spPr bwMode="auto">
          <a:xfrm>
            <a:off x="10919381" y="68700"/>
            <a:ext cx="1064503" cy="993816"/>
          </a:xfrm>
          <a:prstGeom prst="rect">
            <a:avLst/>
          </a:prstGeom>
          <a:noFill/>
        </p:spPr>
      </p:pic>
      <p:sp>
        <p:nvSpPr>
          <p:cNvPr id="4" name="Date Placeholder 3">
            <a:extLst>
              <a:ext uri="{FF2B5EF4-FFF2-40B4-BE49-F238E27FC236}">
                <a16:creationId xmlns:a16="http://schemas.microsoft.com/office/drawing/2014/main" id="{BF9D8D24-33D2-66BE-C027-B4A2BBBB93A2}"/>
              </a:ext>
            </a:extLst>
          </p:cNvPr>
          <p:cNvSpPr>
            <a:spLocks noGrp="1"/>
          </p:cNvSpPr>
          <p:nvPr>
            <p:ph type="dt" sz="half" idx="10"/>
          </p:nvPr>
        </p:nvSpPr>
        <p:spPr/>
        <p:txBody>
          <a:bodyPr/>
          <a:lstStyle/>
          <a:p>
            <a:fld id="{C91A8077-D1E3-46B9-B69D-4B82EFD8904A}" type="datetime1">
              <a:rPr lang="en-IN" smtClean="0"/>
              <a:t>25-11-2025</a:t>
            </a:fld>
            <a:endParaRPr lang="en-IN" dirty="0"/>
          </a:p>
        </p:txBody>
      </p:sp>
      <p:sp>
        <p:nvSpPr>
          <p:cNvPr id="5" name="Slide Number Placeholder 4">
            <a:extLst>
              <a:ext uri="{FF2B5EF4-FFF2-40B4-BE49-F238E27FC236}">
                <a16:creationId xmlns:a16="http://schemas.microsoft.com/office/drawing/2014/main" id="{56469EC6-0CEE-1510-F6B4-5E3D5DE43B58}"/>
              </a:ext>
            </a:extLst>
          </p:cNvPr>
          <p:cNvSpPr>
            <a:spLocks noGrp="1"/>
          </p:cNvSpPr>
          <p:nvPr>
            <p:ph type="sldNum" sz="quarter" idx="12"/>
          </p:nvPr>
        </p:nvSpPr>
        <p:spPr/>
        <p:txBody>
          <a:bodyPr/>
          <a:lstStyle/>
          <a:p>
            <a:fld id="{1D61E2EE-8691-4F9F-8A0A-B2A5C6D22C5B}" type="slidenum">
              <a:rPr lang="en-IN" smtClean="0"/>
              <a:t>4</a:t>
            </a:fld>
            <a:endParaRPr lang="en-IN" dirty="0"/>
          </a:p>
        </p:txBody>
      </p:sp>
    </p:spTree>
    <p:extLst>
      <p:ext uri="{BB962C8B-B14F-4D97-AF65-F5344CB8AC3E}">
        <p14:creationId xmlns:p14="http://schemas.microsoft.com/office/powerpoint/2010/main" val="987783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1DB007-9E4A-37C4-3792-56BFF7794105}"/>
              </a:ext>
            </a:extLst>
          </p:cNvPr>
          <p:cNvSpPr txBox="1"/>
          <p:nvPr/>
        </p:nvSpPr>
        <p:spPr>
          <a:xfrm>
            <a:off x="4643120" y="942680"/>
            <a:ext cx="261159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MOTIVATION</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8A24CF1-B721-1CE9-0835-CB4B5857967A}"/>
              </a:ext>
            </a:extLst>
          </p:cNvPr>
          <p:cNvSpPr txBox="1"/>
          <p:nvPr/>
        </p:nvSpPr>
        <p:spPr>
          <a:xfrm>
            <a:off x="0" y="2005781"/>
            <a:ext cx="12192000" cy="1938992"/>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main motivation is to assist visually impaired individuals in navigating safely and independently.</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By using ultrasonic sensors with Arduino Nano, obstacles can be detected effectively in real time.</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project aims to provide a low-cost, portable, and reliable smart aid for the blind. It reflects a step toward using technology for social welfare and human assistance.</a:t>
            </a:r>
            <a:endParaRPr lang="en-IN" sz="2000" dirty="0">
              <a:latin typeface="Times New Roman" panose="02020603050405020304" pitchFamily="18" charset="0"/>
              <a:cs typeface="Times New Roman" panose="02020603050405020304" pitchFamily="18" charset="0"/>
            </a:endParaRPr>
          </a:p>
        </p:txBody>
      </p:sp>
      <p:pic>
        <p:nvPicPr>
          <p:cNvPr id="4" name="Picture 3" descr="A logo of a company&#10;&#10;Description automatically generated">
            <a:extLst>
              <a:ext uri="{FF2B5EF4-FFF2-40B4-BE49-F238E27FC236}">
                <a16:creationId xmlns:a16="http://schemas.microsoft.com/office/drawing/2014/main" id="{D465EEC2-1E03-D668-FBBA-C8AA24A76679}"/>
              </a:ext>
            </a:extLst>
          </p:cNvPr>
          <p:cNvPicPr>
            <a:picLocks noChangeAspect="1" noChangeArrowheads="1"/>
          </p:cNvPicPr>
          <p:nvPr/>
        </p:nvPicPr>
        <p:blipFill>
          <a:blip r:embed="rId2"/>
          <a:srcRect/>
          <a:stretch>
            <a:fillRect/>
          </a:stretch>
        </p:blipFill>
        <p:spPr bwMode="auto">
          <a:xfrm>
            <a:off x="10988207" y="133530"/>
            <a:ext cx="1064503" cy="993816"/>
          </a:xfrm>
          <a:prstGeom prst="rect">
            <a:avLst/>
          </a:prstGeom>
          <a:noFill/>
        </p:spPr>
      </p:pic>
      <p:sp>
        <p:nvSpPr>
          <p:cNvPr id="5" name="Date Placeholder 4">
            <a:extLst>
              <a:ext uri="{FF2B5EF4-FFF2-40B4-BE49-F238E27FC236}">
                <a16:creationId xmlns:a16="http://schemas.microsoft.com/office/drawing/2014/main" id="{DBF304EC-E8C7-F38E-C90D-F073AA2520DC}"/>
              </a:ext>
            </a:extLst>
          </p:cNvPr>
          <p:cNvSpPr>
            <a:spLocks noGrp="1"/>
          </p:cNvSpPr>
          <p:nvPr>
            <p:ph type="dt" sz="half" idx="10"/>
          </p:nvPr>
        </p:nvSpPr>
        <p:spPr/>
        <p:txBody>
          <a:bodyPr/>
          <a:lstStyle/>
          <a:p>
            <a:fld id="{319CB21C-A6D4-4F9E-9D3C-1692BE8AF5F3}" type="datetime1">
              <a:rPr lang="en-IN" smtClean="0"/>
              <a:t>25-11-2025</a:t>
            </a:fld>
            <a:endParaRPr lang="en-IN" dirty="0"/>
          </a:p>
        </p:txBody>
      </p:sp>
      <p:sp>
        <p:nvSpPr>
          <p:cNvPr id="6" name="Slide Number Placeholder 5">
            <a:extLst>
              <a:ext uri="{FF2B5EF4-FFF2-40B4-BE49-F238E27FC236}">
                <a16:creationId xmlns:a16="http://schemas.microsoft.com/office/drawing/2014/main" id="{1BAAF4DB-BF00-5EC7-602F-332E25D35105}"/>
              </a:ext>
            </a:extLst>
          </p:cNvPr>
          <p:cNvSpPr>
            <a:spLocks noGrp="1"/>
          </p:cNvSpPr>
          <p:nvPr>
            <p:ph type="sldNum" sz="quarter" idx="12"/>
          </p:nvPr>
        </p:nvSpPr>
        <p:spPr/>
        <p:txBody>
          <a:bodyPr/>
          <a:lstStyle/>
          <a:p>
            <a:fld id="{1D61E2EE-8691-4F9F-8A0A-B2A5C6D22C5B}" type="slidenum">
              <a:rPr lang="en-IN" smtClean="0"/>
              <a:t>5</a:t>
            </a:fld>
            <a:endParaRPr lang="en-IN" dirty="0"/>
          </a:p>
        </p:txBody>
      </p:sp>
    </p:spTree>
    <p:extLst>
      <p:ext uri="{BB962C8B-B14F-4D97-AF65-F5344CB8AC3E}">
        <p14:creationId xmlns:p14="http://schemas.microsoft.com/office/powerpoint/2010/main" val="1509719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3A427-AA07-4B98-6999-32662FB3617F}"/>
              </a:ext>
            </a:extLst>
          </p:cNvPr>
          <p:cNvSpPr>
            <a:spLocks noGrp="1"/>
          </p:cNvSpPr>
          <p:nvPr>
            <p:ph type="title"/>
          </p:nvPr>
        </p:nvSpPr>
        <p:spPr bwMode="white">
          <a:xfrm>
            <a:off x="838200" y="-616225"/>
            <a:ext cx="10515600" cy="1530626"/>
          </a:xfrm>
        </p:spPr>
        <p:txBody>
          <a:bodyPr>
            <a:normAutofit/>
          </a:bodyPr>
          <a:lstStyle/>
          <a:p>
            <a:pPr algn="ctr">
              <a:lnSpc>
                <a:spcPct val="100000"/>
              </a:lnSpc>
            </a:pPr>
            <a:r>
              <a:rPr lang="en-US" sz="2000" b="1" dirty="0">
                <a:latin typeface="Times New Roman" panose="02020603050405020304" pitchFamily="18" charset="0"/>
                <a:cs typeface="Times New Roman" panose="02020603050405020304" pitchFamily="18" charset="0"/>
              </a:rPr>
              <a:t>Review of Literature</a:t>
            </a:r>
            <a:endParaRPr lang="en-IN" sz="2000" b="1" dirty="0">
              <a:latin typeface="Times New Roman" panose="02020603050405020304" pitchFamily="18" charset="0"/>
              <a:cs typeface="Times New Roman" panose="02020603050405020304" pitchFamily="18" charset="0"/>
            </a:endParaRPr>
          </a:p>
        </p:txBody>
      </p:sp>
      <p:graphicFrame>
        <p:nvGraphicFramePr>
          <p:cNvPr id="6" name="Content Placeholder 5">
            <a:extLst>
              <a:ext uri="{FF2B5EF4-FFF2-40B4-BE49-F238E27FC236}">
                <a16:creationId xmlns:a16="http://schemas.microsoft.com/office/drawing/2014/main" id="{459EB8A0-F6A5-2EB6-D8A0-4885C74F1378}"/>
              </a:ext>
            </a:extLst>
          </p:cNvPr>
          <p:cNvGraphicFramePr>
            <a:graphicFrameLocks noGrp="1"/>
          </p:cNvGraphicFramePr>
          <p:nvPr>
            <p:ph idx="1"/>
            <p:extLst>
              <p:ext uri="{D42A27DB-BD31-4B8C-83A1-F6EECF244321}">
                <p14:modId xmlns:p14="http://schemas.microsoft.com/office/powerpoint/2010/main" val="500129371"/>
              </p:ext>
            </p:extLst>
          </p:nvPr>
        </p:nvGraphicFramePr>
        <p:xfrm>
          <a:off x="0" y="356169"/>
          <a:ext cx="12192001" cy="6501831"/>
        </p:xfrm>
        <a:graphic>
          <a:graphicData uri="http://schemas.openxmlformats.org/drawingml/2006/table">
            <a:tbl>
              <a:tblPr firstRow="1" bandRow="1">
                <a:tableStyleId>{073A0DAA-6AF3-43AB-8588-CEC1D06C72B9}</a:tableStyleId>
              </a:tblPr>
              <a:tblGrid>
                <a:gridCol w="723302">
                  <a:extLst>
                    <a:ext uri="{9D8B030D-6E8A-4147-A177-3AD203B41FA5}">
                      <a16:colId xmlns:a16="http://schemas.microsoft.com/office/drawing/2014/main" val="3979946424"/>
                    </a:ext>
                  </a:extLst>
                </a:gridCol>
                <a:gridCol w="3079264">
                  <a:extLst>
                    <a:ext uri="{9D8B030D-6E8A-4147-A177-3AD203B41FA5}">
                      <a16:colId xmlns:a16="http://schemas.microsoft.com/office/drawing/2014/main" val="3703603782"/>
                    </a:ext>
                  </a:extLst>
                </a:gridCol>
                <a:gridCol w="3214922">
                  <a:extLst>
                    <a:ext uri="{9D8B030D-6E8A-4147-A177-3AD203B41FA5}">
                      <a16:colId xmlns:a16="http://schemas.microsoft.com/office/drawing/2014/main" val="2035851873"/>
                    </a:ext>
                  </a:extLst>
                </a:gridCol>
                <a:gridCol w="2743200">
                  <a:extLst>
                    <a:ext uri="{9D8B030D-6E8A-4147-A177-3AD203B41FA5}">
                      <a16:colId xmlns:a16="http://schemas.microsoft.com/office/drawing/2014/main" val="2408394339"/>
                    </a:ext>
                  </a:extLst>
                </a:gridCol>
                <a:gridCol w="2431313">
                  <a:extLst>
                    <a:ext uri="{9D8B030D-6E8A-4147-A177-3AD203B41FA5}">
                      <a16:colId xmlns:a16="http://schemas.microsoft.com/office/drawing/2014/main" val="4199466568"/>
                    </a:ext>
                  </a:extLst>
                </a:gridCol>
              </a:tblGrid>
              <a:tr h="457875">
                <a:tc>
                  <a:txBody>
                    <a:bodyPr/>
                    <a:lstStyle/>
                    <a:p>
                      <a:pPr algn="ctr"/>
                      <a:r>
                        <a:rPr lang="en-US" sz="1800" dirty="0">
                          <a:latin typeface="Times New Roman" panose="02020603050405020304" pitchFamily="18" charset="0"/>
                          <a:cs typeface="Times New Roman" panose="02020603050405020304" pitchFamily="18" charset="0"/>
                        </a:rPr>
                        <a:t>S</a:t>
                      </a:r>
                      <a:r>
                        <a:rPr lang="en-US" dirty="0"/>
                        <a:t>.</a:t>
                      </a:r>
                      <a:r>
                        <a:rPr lang="en-US" sz="1800" dirty="0">
                          <a:latin typeface="Times New Roman" panose="02020603050405020304" pitchFamily="18" charset="0"/>
                          <a:cs typeface="Times New Roman" panose="02020603050405020304" pitchFamily="18" charset="0"/>
                        </a:rPr>
                        <a:t>NO</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Author </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Title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Topic</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Inference</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7168857"/>
                  </a:ext>
                </a:extLst>
              </a:tr>
              <a:tr h="2014652">
                <a:tc>
                  <a:txBody>
                    <a:bodyPr/>
                    <a:lstStyle/>
                    <a:p>
                      <a:r>
                        <a:rPr lang="en-US" dirty="0"/>
                        <a:t>1.</a:t>
                      </a:r>
                    </a:p>
                    <a:p>
                      <a:endParaRPr lang="en-IN" dirty="0"/>
                    </a:p>
                  </a:txBody>
                  <a:tcPr/>
                </a:tc>
                <a:tc>
                  <a:txBody>
                    <a:bodyPr/>
                    <a:lstStyle/>
                    <a:p>
                      <a:pPr algn="just"/>
                      <a:r>
                        <a:rPr lang="en-IN" dirty="0">
                          <a:latin typeface="Times New Roman" panose="02020603050405020304" pitchFamily="18" charset="0"/>
                          <a:cs typeface="Times New Roman" panose="02020603050405020304" pitchFamily="18" charset="0"/>
                        </a:rPr>
                        <a:t>Siddharth Swami, Rajesh Singh, Saurabh Dhyani, Garima Rathi, Sanjeev Kumar Shah, Manish Ghalwan, Nagendar Yamsani [2025]</a:t>
                      </a:r>
                    </a:p>
                  </a:txBody>
                  <a:tcPr/>
                </a:tc>
                <a:tc>
                  <a:txBody>
                    <a:bodyPr/>
                    <a:lstStyle/>
                    <a:p>
                      <a:pPr algn="just"/>
                      <a:r>
                        <a:rPr lang="en-US" dirty="0">
                          <a:latin typeface="Times New Roman" panose="02020603050405020304" pitchFamily="18" charset="0"/>
                          <a:cs typeface="Times New Roman" panose="02020603050405020304" pitchFamily="18" charset="0"/>
                        </a:rPr>
                        <a:t>An Affordable Low-Cost Wearable Solution for Object Detection in Visual Impairment.</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The paper focuses on assistive technology for visually impaired individuals, specifically developing a low-cost wearable device that helps detect nearby obstacles.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The wearable device successfully detects obstacles in real time and alerts the user through a buzzer sound.</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42392423"/>
                  </a:ext>
                </a:extLst>
              </a:tr>
              <a:tr h="2014652">
                <a:tc>
                  <a:txBody>
                    <a:bodyPr/>
                    <a:lstStyle/>
                    <a:p>
                      <a:r>
                        <a:rPr lang="en-IN" dirty="0"/>
                        <a:t>2.</a:t>
                      </a:r>
                    </a:p>
                  </a:txBody>
                  <a:tcPr/>
                </a:tc>
                <a:tc>
                  <a:txBody>
                    <a:bodyPr/>
                    <a:lstStyle/>
                    <a:p>
                      <a:r>
                        <a:rPr lang="en-IN" dirty="0">
                          <a:latin typeface="Times New Roman" panose="02020603050405020304" pitchFamily="18" charset="0"/>
                          <a:cs typeface="Times New Roman" panose="02020603050405020304" pitchFamily="18" charset="0"/>
                        </a:rPr>
                        <a:t>Vaishnavi Lingawar, Madhunika Nilakhe, Mrunali Kamble, and Prof. M.P. Shinde [2023</a:t>
                      </a:r>
                      <a:r>
                        <a:rPr lang="en-IN" dirty="0"/>
                        <a:t>]</a:t>
                      </a:r>
                    </a:p>
                  </a:txBody>
                  <a:tcPr/>
                </a:tc>
                <a:tc>
                  <a:txBody>
                    <a:bodyPr/>
                    <a:lstStyle/>
                    <a:p>
                      <a:r>
                        <a:rPr lang="en-US" dirty="0">
                          <a:latin typeface="Times New Roman" panose="02020603050405020304" pitchFamily="18" charset="0"/>
                          <a:cs typeface="Times New Roman" panose="02020603050405020304" pitchFamily="18" charset="0"/>
                        </a:rPr>
                        <a:t>Ultrasonic Smart Glasses for Visually Impaired Peoples</a:t>
                      </a:r>
                      <a:r>
                        <a:rPr lang="en-US" dirty="0"/>
                        <a:t>.</a:t>
                      </a:r>
                      <a:endParaRPr lang="en-IN" dirty="0"/>
                    </a:p>
                  </a:txBody>
                  <a:tcPr/>
                </a:tc>
                <a:tc>
                  <a:txBody>
                    <a:bodyPr/>
                    <a:lstStyle/>
                    <a:p>
                      <a:r>
                        <a:rPr lang="en-US" dirty="0">
                          <a:latin typeface="Times New Roman" panose="02020603050405020304" pitchFamily="18" charset="0"/>
                          <a:cs typeface="Times New Roman" panose="02020603050405020304" pitchFamily="18" charset="0"/>
                        </a:rPr>
                        <a:t>The study states, a device integrates an ultrasonic sensor, processing unit (Arduino Uno), buzzer, and MP3 output to help users navigate safely and independently.</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The study concludes that ultrasonic smart glasses can function as a “third eye” for visually impaired Individual.</a:t>
                      </a:r>
                    </a:p>
                  </a:txBody>
                  <a:tcPr/>
                </a:tc>
                <a:extLst>
                  <a:ext uri="{0D108BD9-81ED-4DB2-BD59-A6C34878D82A}">
                    <a16:rowId xmlns:a16="http://schemas.microsoft.com/office/drawing/2014/main" val="1322575601"/>
                  </a:ext>
                </a:extLst>
              </a:tr>
              <a:tr h="2014652">
                <a:tc>
                  <a:txBody>
                    <a:bodyPr/>
                    <a:lstStyle/>
                    <a:p>
                      <a:r>
                        <a:rPr lang="en-IN" dirty="0"/>
                        <a:t>3.</a:t>
                      </a:r>
                    </a:p>
                  </a:txBody>
                  <a:tcPr/>
                </a:tc>
                <a:tc>
                  <a:txBody>
                    <a:bodyPr/>
                    <a:lstStyle/>
                    <a:p>
                      <a:r>
                        <a:rPr lang="en-IN" dirty="0">
                          <a:latin typeface="Times New Roman" panose="02020603050405020304" pitchFamily="18" charset="0"/>
                          <a:cs typeface="Times New Roman" panose="02020603050405020304" pitchFamily="18" charset="0"/>
                        </a:rPr>
                        <a:t>Kaushalya Thopate, Ketki Shirbavikar, Radhika V. Kulkarni, Rajesh Phursule, Vaibhav Kale, Suyash Karjule, Kamlait Suhas, Suparshva Kale [2024]</a:t>
                      </a:r>
                    </a:p>
                  </a:txBody>
                  <a:tcPr/>
                </a:tc>
                <a:tc>
                  <a:txBody>
                    <a:bodyPr/>
                    <a:lstStyle/>
                    <a:p>
                      <a:r>
                        <a:rPr lang="en-IN" dirty="0">
                          <a:latin typeface="Times New Roman" panose="02020603050405020304" pitchFamily="18" charset="0"/>
                          <a:cs typeface="Times New Roman" panose="02020603050405020304" pitchFamily="18" charset="0"/>
                        </a:rPr>
                        <a:t>Enhancing Ultrasonic Sensor Goggles for Blinds Using Node MCU ESP8266 Microprocessor.</a:t>
                      </a:r>
                    </a:p>
                  </a:txBody>
                  <a:tcPr/>
                </a:tc>
                <a:tc>
                  <a:txBody>
                    <a:bodyPr/>
                    <a:lstStyle/>
                    <a:p>
                      <a:r>
                        <a:rPr lang="en-US" dirty="0">
                          <a:latin typeface="Times New Roman" panose="02020603050405020304" pitchFamily="18" charset="0"/>
                          <a:cs typeface="Times New Roman" panose="02020603050405020304" pitchFamily="18" charset="0"/>
                        </a:rPr>
                        <a:t>The paper focuses on developing assistive technology for the visually impaired by designing ultrasonic sensor-based smart goggles.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The study concludes that Node MCU ESP8266 significantly improves the performance of ultrasonic goggles for the blind.</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00465604"/>
                  </a:ext>
                </a:extLst>
              </a:tr>
            </a:tbl>
          </a:graphicData>
        </a:graphic>
      </p:graphicFrame>
      <p:sp>
        <p:nvSpPr>
          <p:cNvPr id="4" name="Date Placeholder 3">
            <a:extLst>
              <a:ext uri="{FF2B5EF4-FFF2-40B4-BE49-F238E27FC236}">
                <a16:creationId xmlns:a16="http://schemas.microsoft.com/office/drawing/2014/main" id="{8ECDDBE9-D333-1CCB-7624-956C7A143ED6}"/>
              </a:ext>
            </a:extLst>
          </p:cNvPr>
          <p:cNvSpPr>
            <a:spLocks noGrp="1"/>
          </p:cNvSpPr>
          <p:nvPr>
            <p:ph type="dt" sz="half" idx="10"/>
          </p:nvPr>
        </p:nvSpPr>
        <p:spPr>
          <a:xfrm>
            <a:off x="838200" y="6501832"/>
            <a:ext cx="2743200" cy="369332"/>
          </a:xfrm>
        </p:spPr>
        <p:txBody>
          <a:bodyPr/>
          <a:lstStyle/>
          <a:p>
            <a:pPr algn="just"/>
            <a:r>
              <a:rPr lang="en-IN" sz="1600" dirty="0">
                <a:latin typeface="Times New Roman" panose="02020603050405020304" pitchFamily="18" charset="0"/>
                <a:cs typeface="Times New Roman" panose="02020603050405020304" pitchFamily="18" charset="0"/>
              </a:rPr>
              <a:t>30-10-2025</a:t>
            </a:r>
          </a:p>
        </p:txBody>
      </p:sp>
      <p:sp>
        <p:nvSpPr>
          <p:cNvPr id="5" name="Slide Number Placeholder 4">
            <a:extLst>
              <a:ext uri="{FF2B5EF4-FFF2-40B4-BE49-F238E27FC236}">
                <a16:creationId xmlns:a16="http://schemas.microsoft.com/office/drawing/2014/main" id="{11A0119D-1438-EAC7-F4AD-1CFAB938C32C}"/>
              </a:ext>
            </a:extLst>
          </p:cNvPr>
          <p:cNvSpPr>
            <a:spLocks noGrp="1"/>
          </p:cNvSpPr>
          <p:nvPr>
            <p:ph type="sldNum" sz="quarter" idx="12"/>
          </p:nvPr>
        </p:nvSpPr>
        <p:spPr>
          <a:xfrm>
            <a:off x="11493794" y="6501831"/>
            <a:ext cx="318977" cy="369332"/>
          </a:xfrm>
        </p:spPr>
        <p:txBody>
          <a:bodyPr/>
          <a:lstStyle/>
          <a:p>
            <a:pPr algn="just"/>
            <a:fld id="{1D61E2EE-8691-4F9F-8A0A-B2A5C6D22C5B}" type="slidenum">
              <a:rPr lang="en-IN" sz="1600" smtClean="0">
                <a:latin typeface="Times New Roman" panose="02020603050405020304" pitchFamily="18" charset="0"/>
                <a:cs typeface="Times New Roman" panose="02020603050405020304" pitchFamily="18" charset="0"/>
              </a:rPr>
              <a:pPr algn="just"/>
              <a:t>6</a:t>
            </a:fld>
            <a:endParaRPr lang="en-IN" sz="16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D97D1F0-B268-9AF4-B97A-FB0C517069B0}"/>
              </a:ext>
            </a:extLst>
          </p:cNvPr>
          <p:cNvPicPr>
            <a:picLocks noChangeAspect="1"/>
          </p:cNvPicPr>
          <p:nvPr/>
        </p:nvPicPr>
        <p:blipFill>
          <a:blip r:embed="rId3"/>
          <a:stretch>
            <a:fillRect/>
          </a:stretch>
        </p:blipFill>
        <p:spPr>
          <a:xfrm>
            <a:off x="11353800" y="0"/>
            <a:ext cx="838200" cy="356170"/>
          </a:xfrm>
          <a:prstGeom prst="rect">
            <a:avLst/>
          </a:prstGeom>
        </p:spPr>
      </p:pic>
    </p:spTree>
    <p:extLst>
      <p:ext uri="{BB962C8B-B14F-4D97-AF65-F5344CB8AC3E}">
        <p14:creationId xmlns:p14="http://schemas.microsoft.com/office/powerpoint/2010/main" val="2215136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919A879E-0197-73F4-28EE-88B8E71A847F}"/>
              </a:ext>
            </a:extLst>
          </p:cNvPr>
          <p:cNvGraphicFramePr>
            <a:graphicFrameLocks noGrp="1"/>
          </p:cNvGraphicFramePr>
          <p:nvPr>
            <p:ph idx="1"/>
            <p:extLst>
              <p:ext uri="{D42A27DB-BD31-4B8C-83A1-F6EECF244321}">
                <p14:modId xmlns:p14="http://schemas.microsoft.com/office/powerpoint/2010/main" val="380904262"/>
              </p:ext>
            </p:extLst>
          </p:nvPr>
        </p:nvGraphicFramePr>
        <p:xfrm>
          <a:off x="0" y="1190845"/>
          <a:ext cx="12245041" cy="3128099"/>
        </p:xfrm>
        <a:graphic>
          <a:graphicData uri="http://schemas.openxmlformats.org/drawingml/2006/table">
            <a:tbl>
              <a:tblPr firstRow="1" bandRow="1">
                <a:tableStyleId>{073A0DAA-6AF3-43AB-8588-CEC1D06C72B9}</a:tableStyleId>
              </a:tblPr>
              <a:tblGrid>
                <a:gridCol w="873922">
                  <a:extLst>
                    <a:ext uri="{9D8B030D-6E8A-4147-A177-3AD203B41FA5}">
                      <a16:colId xmlns:a16="http://schemas.microsoft.com/office/drawing/2014/main" val="2519276124"/>
                    </a:ext>
                  </a:extLst>
                </a:gridCol>
                <a:gridCol w="3603223">
                  <a:extLst>
                    <a:ext uri="{9D8B030D-6E8A-4147-A177-3AD203B41FA5}">
                      <a16:colId xmlns:a16="http://schemas.microsoft.com/office/drawing/2014/main" val="3216417050"/>
                    </a:ext>
                  </a:extLst>
                </a:gridCol>
                <a:gridCol w="2643786">
                  <a:extLst>
                    <a:ext uri="{9D8B030D-6E8A-4147-A177-3AD203B41FA5}">
                      <a16:colId xmlns:a16="http://schemas.microsoft.com/office/drawing/2014/main" val="1795167104"/>
                    </a:ext>
                  </a:extLst>
                </a:gridCol>
                <a:gridCol w="2675767">
                  <a:extLst>
                    <a:ext uri="{9D8B030D-6E8A-4147-A177-3AD203B41FA5}">
                      <a16:colId xmlns:a16="http://schemas.microsoft.com/office/drawing/2014/main" val="3784304016"/>
                    </a:ext>
                  </a:extLst>
                </a:gridCol>
                <a:gridCol w="2448343">
                  <a:extLst>
                    <a:ext uri="{9D8B030D-6E8A-4147-A177-3AD203B41FA5}">
                      <a16:colId xmlns:a16="http://schemas.microsoft.com/office/drawing/2014/main" val="513964510"/>
                    </a:ext>
                  </a:extLst>
                </a:gridCol>
              </a:tblGrid>
              <a:tr h="1116419">
                <a:tc>
                  <a:txBody>
                    <a:bodyPr/>
                    <a:lstStyle/>
                    <a:p>
                      <a:r>
                        <a:rPr lang="en-IN" sz="2000" dirty="0">
                          <a:latin typeface="Times New Roman" panose="02020603050405020304" pitchFamily="18" charset="0"/>
                          <a:cs typeface="Times New Roman" panose="02020603050405020304" pitchFamily="18" charset="0"/>
                        </a:rPr>
                        <a:t>S.NO</a:t>
                      </a:r>
                    </a:p>
                  </a:txBody>
                  <a:tcPr/>
                </a:tc>
                <a:tc>
                  <a:txBody>
                    <a:bodyPr/>
                    <a:lstStyle/>
                    <a:p>
                      <a:pPr algn="ctr"/>
                      <a:r>
                        <a:rPr lang="en-IN" sz="2400" dirty="0">
                          <a:latin typeface="Times New Roman" panose="02020603050405020304" pitchFamily="18" charset="0"/>
                          <a:cs typeface="Times New Roman" panose="02020603050405020304" pitchFamily="18" charset="0"/>
                        </a:rPr>
                        <a:t>Author</a:t>
                      </a:r>
                    </a:p>
                  </a:txBody>
                  <a:tcPr/>
                </a:tc>
                <a:tc>
                  <a:txBody>
                    <a:bodyPr/>
                    <a:lstStyle/>
                    <a:p>
                      <a:pPr algn="ctr"/>
                      <a:r>
                        <a:rPr lang="en-IN" sz="2400" dirty="0">
                          <a:latin typeface="Times New Roman" panose="02020603050405020304" pitchFamily="18" charset="0"/>
                          <a:cs typeface="Times New Roman" panose="02020603050405020304" pitchFamily="18" charset="0"/>
                        </a:rPr>
                        <a:t>Title</a:t>
                      </a:r>
                    </a:p>
                  </a:txBody>
                  <a:tcPr/>
                </a:tc>
                <a:tc>
                  <a:txBody>
                    <a:bodyPr/>
                    <a:lstStyle/>
                    <a:p>
                      <a:pPr algn="ctr"/>
                      <a:r>
                        <a:rPr lang="en-IN" sz="2400" dirty="0">
                          <a:latin typeface="Times New Roman" panose="02020603050405020304" pitchFamily="18" charset="0"/>
                          <a:cs typeface="Times New Roman" panose="02020603050405020304" pitchFamily="18" charset="0"/>
                        </a:rPr>
                        <a:t>Topic </a:t>
                      </a:r>
                    </a:p>
                  </a:txBody>
                  <a:tcPr/>
                </a:tc>
                <a:tc>
                  <a:txBody>
                    <a:bodyPr/>
                    <a:lstStyle/>
                    <a:p>
                      <a:pPr algn="ctr"/>
                      <a:r>
                        <a:rPr lang="en-IN" sz="2400" b="1"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707515452"/>
                  </a:ext>
                </a:extLst>
              </a:tr>
              <a:tr h="1116419">
                <a:tc>
                  <a:txBody>
                    <a:bodyPr/>
                    <a:lstStyle/>
                    <a:p>
                      <a:r>
                        <a:rPr lang="en-IN" dirty="0"/>
                        <a:t>4.</a:t>
                      </a:r>
                    </a:p>
                  </a:txBody>
                  <a:tcPr/>
                </a:tc>
                <a:tc>
                  <a:txBody>
                    <a:bodyPr/>
                    <a:lstStyle/>
                    <a:p>
                      <a:pPr algn="l"/>
                      <a:r>
                        <a:rPr lang="en-IN" dirty="0">
                          <a:latin typeface="Times New Roman" panose="02020603050405020304" pitchFamily="18" charset="0"/>
                          <a:cs typeface="Times New Roman" panose="02020603050405020304" pitchFamily="18" charset="0"/>
                        </a:rPr>
                        <a:t>Jinqiang Bai, Shiguo Lian, Zhaoxiang Liu, Kai Wang, and Dijun Liu [2017]</a:t>
                      </a:r>
                    </a:p>
                  </a:txBody>
                  <a:tcPr/>
                </a:tc>
                <a:tc>
                  <a:txBody>
                    <a:bodyPr/>
                    <a:lstStyle/>
                    <a:p>
                      <a:r>
                        <a:rPr lang="en-US" dirty="0">
                          <a:latin typeface="Times New Roman" panose="02020603050405020304" pitchFamily="18" charset="0"/>
                          <a:cs typeface="Times New Roman" panose="02020603050405020304" pitchFamily="18" charset="0"/>
                        </a:rPr>
                        <a:t>Smart Guiding Glasses for Visually Impaired People in Indoor Environment.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The paper discusses the development of smart guiding glasses designed to assist visually impaired people in navigating complex indoor environments.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The study presents a multi-sensor fusion algorithm that effectively detects obstacles using both depth and ultrasonic sensors.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5263388"/>
                  </a:ext>
                </a:extLst>
              </a:tr>
            </a:tbl>
          </a:graphicData>
        </a:graphic>
      </p:graphicFrame>
      <p:sp>
        <p:nvSpPr>
          <p:cNvPr id="4" name="Date Placeholder 3">
            <a:extLst>
              <a:ext uri="{FF2B5EF4-FFF2-40B4-BE49-F238E27FC236}">
                <a16:creationId xmlns:a16="http://schemas.microsoft.com/office/drawing/2014/main" id="{825BB276-4B71-B6A1-D9BF-85D97BA08162}"/>
              </a:ext>
            </a:extLst>
          </p:cNvPr>
          <p:cNvSpPr>
            <a:spLocks noGrp="1"/>
          </p:cNvSpPr>
          <p:nvPr>
            <p:ph type="dt" sz="half" idx="10"/>
          </p:nvPr>
        </p:nvSpPr>
        <p:spPr/>
        <p:txBody>
          <a:bodyPr/>
          <a:lstStyle/>
          <a:p>
            <a:fld id="{33AF81BB-0238-4588-8C07-DAF0DBF3914C}" type="datetime1">
              <a:rPr lang="en-IN" smtClean="0"/>
              <a:t>25-11-2025</a:t>
            </a:fld>
            <a:endParaRPr lang="en-IN" dirty="0"/>
          </a:p>
        </p:txBody>
      </p:sp>
      <p:sp>
        <p:nvSpPr>
          <p:cNvPr id="5" name="Slide Number Placeholder 4">
            <a:extLst>
              <a:ext uri="{FF2B5EF4-FFF2-40B4-BE49-F238E27FC236}">
                <a16:creationId xmlns:a16="http://schemas.microsoft.com/office/drawing/2014/main" id="{81F61F81-1D71-A3BA-55B0-8A285DE50174}"/>
              </a:ext>
            </a:extLst>
          </p:cNvPr>
          <p:cNvSpPr>
            <a:spLocks noGrp="1"/>
          </p:cNvSpPr>
          <p:nvPr>
            <p:ph type="sldNum" sz="quarter" idx="12"/>
          </p:nvPr>
        </p:nvSpPr>
        <p:spPr/>
        <p:txBody>
          <a:bodyPr/>
          <a:lstStyle/>
          <a:p>
            <a:fld id="{1D61E2EE-8691-4F9F-8A0A-B2A5C6D22C5B}" type="slidenum">
              <a:rPr lang="en-IN" smtClean="0"/>
              <a:t>7</a:t>
            </a:fld>
            <a:endParaRPr lang="en-IN" dirty="0"/>
          </a:p>
        </p:txBody>
      </p:sp>
      <p:pic>
        <p:nvPicPr>
          <p:cNvPr id="7" name="Picture 6">
            <a:extLst>
              <a:ext uri="{FF2B5EF4-FFF2-40B4-BE49-F238E27FC236}">
                <a16:creationId xmlns:a16="http://schemas.microsoft.com/office/drawing/2014/main" id="{2FCF1F15-16A0-30AB-808F-D82D0DA7CA19}"/>
              </a:ext>
            </a:extLst>
          </p:cNvPr>
          <p:cNvPicPr>
            <a:picLocks noChangeAspect="1"/>
          </p:cNvPicPr>
          <p:nvPr/>
        </p:nvPicPr>
        <p:blipFill>
          <a:blip r:embed="rId2"/>
          <a:stretch>
            <a:fillRect/>
          </a:stretch>
        </p:blipFill>
        <p:spPr>
          <a:xfrm>
            <a:off x="11004156" y="136524"/>
            <a:ext cx="1042532" cy="857209"/>
          </a:xfrm>
          <a:prstGeom prst="rect">
            <a:avLst/>
          </a:prstGeom>
        </p:spPr>
      </p:pic>
      <p:sp>
        <p:nvSpPr>
          <p:cNvPr id="9" name="TextBox 8">
            <a:extLst>
              <a:ext uri="{FF2B5EF4-FFF2-40B4-BE49-F238E27FC236}">
                <a16:creationId xmlns:a16="http://schemas.microsoft.com/office/drawing/2014/main" id="{3DA42509-55DE-42D1-F266-6B9F3DC1F653}"/>
              </a:ext>
            </a:extLst>
          </p:cNvPr>
          <p:cNvSpPr txBox="1"/>
          <p:nvPr/>
        </p:nvSpPr>
        <p:spPr>
          <a:xfrm>
            <a:off x="3581400" y="425302"/>
            <a:ext cx="4020879"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Review of Literature</a:t>
            </a:r>
          </a:p>
        </p:txBody>
      </p:sp>
    </p:spTree>
    <p:extLst>
      <p:ext uri="{BB962C8B-B14F-4D97-AF65-F5344CB8AC3E}">
        <p14:creationId xmlns:p14="http://schemas.microsoft.com/office/powerpoint/2010/main" val="1357565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A809F6-504E-914C-E93E-66AB351CA98C}"/>
              </a:ext>
            </a:extLst>
          </p:cNvPr>
          <p:cNvSpPr txBox="1"/>
          <p:nvPr/>
        </p:nvSpPr>
        <p:spPr>
          <a:xfrm>
            <a:off x="0" y="0"/>
            <a:ext cx="12192000" cy="3939540"/>
          </a:xfrm>
          <a:prstGeom prst="rect">
            <a:avLst/>
          </a:prstGeom>
          <a:noFill/>
        </p:spPr>
        <p:txBody>
          <a:bodyPr wrap="square" rtlCol="0">
            <a:spAutoFit/>
          </a:bodyPr>
          <a:lstStyle/>
          <a:p>
            <a:r>
              <a:rPr lang="en-US" dirty="0"/>
              <a:t>                                                              </a:t>
            </a: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main objective is to design a smart spectacle that detects nearby obstacles using an ultrasonic sensor.</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alert visually impaired users through a buzzer when an obstacle is within a certain distance. To develop a compact and low-cost assistive device using an Arduino Nano microcontroller.</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enhance user safety, confidence, and independence in daily navigation</a:t>
            </a:r>
            <a:r>
              <a:rPr lang="en-US" sz="2400" b="1" dirty="0">
                <a:latin typeface="Times New Roman" panose="02020603050405020304" pitchFamily="18" charset="0"/>
                <a:cs typeface="Times New Roman" panose="02020603050405020304" pitchFamily="18" charset="0"/>
              </a:rPr>
              <a:t>.</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16CB944-0A4C-F6A9-64B6-8B5718B6D791}"/>
              </a:ext>
            </a:extLst>
          </p:cNvPr>
          <p:cNvSpPr txBox="1"/>
          <p:nvPr/>
        </p:nvSpPr>
        <p:spPr>
          <a:xfrm>
            <a:off x="4053526" y="772998"/>
            <a:ext cx="2714205" cy="461665"/>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OBJECTIVE</a:t>
            </a:r>
            <a:endParaRPr lang="en-IN" sz="2400" b="1" dirty="0">
              <a:latin typeface="Times New Roman" panose="02020603050405020304" pitchFamily="18" charset="0"/>
              <a:cs typeface="Times New Roman" panose="02020603050405020304" pitchFamily="18" charset="0"/>
            </a:endParaRPr>
          </a:p>
        </p:txBody>
      </p:sp>
      <p:pic>
        <p:nvPicPr>
          <p:cNvPr id="4" name="Picture 3" descr="A logo of a company&#10;&#10;Description automatically generated">
            <a:extLst>
              <a:ext uri="{FF2B5EF4-FFF2-40B4-BE49-F238E27FC236}">
                <a16:creationId xmlns:a16="http://schemas.microsoft.com/office/drawing/2014/main" id="{14A84E90-68B0-02B0-D7FA-E663A1F64E88}"/>
              </a:ext>
            </a:extLst>
          </p:cNvPr>
          <p:cNvPicPr>
            <a:picLocks noChangeAspect="1" noChangeArrowheads="1"/>
          </p:cNvPicPr>
          <p:nvPr/>
        </p:nvPicPr>
        <p:blipFill>
          <a:blip r:embed="rId2"/>
          <a:srcRect/>
          <a:stretch>
            <a:fillRect/>
          </a:stretch>
        </p:blipFill>
        <p:spPr bwMode="auto">
          <a:xfrm>
            <a:off x="10988207" y="133530"/>
            <a:ext cx="1064503" cy="993816"/>
          </a:xfrm>
          <a:prstGeom prst="rect">
            <a:avLst/>
          </a:prstGeom>
          <a:noFill/>
        </p:spPr>
      </p:pic>
      <p:sp>
        <p:nvSpPr>
          <p:cNvPr id="5" name="Date Placeholder 4">
            <a:extLst>
              <a:ext uri="{FF2B5EF4-FFF2-40B4-BE49-F238E27FC236}">
                <a16:creationId xmlns:a16="http://schemas.microsoft.com/office/drawing/2014/main" id="{DFC14C64-B5D7-8113-9ED2-EA6E6816772A}"/>
              </a:ext>
            </a:extLst>
          </p:cNvPr>
          <p:cNvSpPr>
            <a:spLocks noGrp="1"/>
          </p:cNvSpPr>
          <p:nvPr>
            <p:ph type="dt" sz="half" idx="10"/>
          </p:nvPr>
        </p:nvSpPr>
        <p:spPr/>
        <p:txBody>
          <a:bodyPr/>
          <a:lstStyle/>
          <a:p>
            <a:fld id="{6F8B54A9-4AAB-406E-A513-46EBB33F7B37}" type="datetime1">
              <a:rPr lang="en-IN" smtClean="0"/>
              <a:t>25-11-2025</a:t>
            </a:fld>
            <a:endParaRPr lang="en-IN" dirty="0"/>
          </a:p>
        </p:txBody>
      </p:sp>
      <p:sp>
        <p:nvSpPr>
          <p:cNvPr id="6" name="Slide Number Placeholder 5">
            <a:extLst>
              <a:ext uri="{FF2B5EF4-FFF2-40B4-BE49-F238E27FC236}">
                <a16:creationId xmlns:a16="http://schemas.microsoft.com/office/drawing/2014/main" id="{15A49381-A47C-5CFE-F542-6C2B45EC9C86}"/>
              </a:ext>
            </a:extLst>
          </p:cNvPr>
          <p:cNvSpPr>
            <a:spLocks noGrp="1"/>
          </p:cNvSpPr>
          <p:nvPr>
            <p:ph type="sldNum" sz="quarter" idx="12"/>
          </p:nvPr>
        </p:nvSpPr>
        <p:spPr/>
        <p:txBody>
          <a:bodyPr/>
          <a:lstStyle/>
          <a:p>
            <a:fld id="{1D61E2EE-8691-4F9F-8A0A-B2A5C6D22C5B}" type="slidenum">
              <a:rPr lang="en-IN" smtClean="0"/>
              <a:t>8</a:t>
            </a:fld>
            <a:endParaRPr lang="en-IN" dirty="0"/>
          </a:p>
        </p:txBody>
      </p:sp>
    </p:spTree>
    <p:extLst>
      <p:ext uri="{BB962C8B-B14F-4D97-AF65-F5344CB8AC3E}">
        <p14:creationId xmlns:p14="http://schemas.microsoft.com/office/powerpoint/2010/main" val="1059661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B310D4-1F90-49BD-35F0-FB7EE62DFAA1}"/>
              </a:ext>
            </a:extLst>
          </p:cNvPr>
          <p:cNvSpPr>
            <a:spLocks noGrp="1"/>
          </p:cNvSpPr>
          <p:nvPr>
            <p:ph idx="1"/>
          </p:nvPr>
        </p:nvSpPr>
        <p:spPr>
          <a:xfrm>
            <a:off x="0" y="1361440"/>
            <a:ext cx="12192000" cy="5496559"/>
          </a:xfrm>
        </p:spPr>
        <p:txBody>
          <a:bodyPr>
            <a:normAutofit fontScale="92500"/>
          </a:bodyPr>
          <a:lstStyle/>
          <a:p>
            <a:pPr algn="just">
              <a:lnSpc>
                <a:spcPct val="120000"/>
              </a:lnSpc>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The proposed system uses an ultrasonic sensor, Arduino Nano, and buzzer to detect obstacles and alert the user through sound. The methodology involves both hardware and software integration to ensure smooth operation.</a:t>
            </a:r>
          </a:p>
          <a:p>
            <a:pPr algn="just">
              <a:lnSpc>
                <a:spcPct val="120000"/>
              </a:lnSpc>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Power Supply</a:t>
            </a:r>
            <a:r>
              <a:rPr lang="en-US" sz="2200" dirty="0">
                <a:latin typeface="Times New Roman" panose="02020603050405020304" pitchFamily="18" charset="0"/>
                <a:cs typeface="Times New Roman" panose="02020603050405020304" pitchFamily="18" charset="0"/>
              </a:rPr>
              <a:t>: The system is powered using a 9V battery controlled by an ON/OFF switch.</a:t>
            </a:r>
          </a:p>
          <a:p>
            <a:pPr algn="just">
              <a:lnSpc>
                <a:spcPct val="120000"/>
              </a:lnSpc>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Sensing</a:t>
            </a:r>
            <a:r>
              <a:rPr lang="en-US" sz="2200" dirty="0">
                <a:latin typeface="Times New Roman" panose="02020603050405020304" pitchFamily="18" charset="0"/>
                <a:cs typeface="Times New Roman" panose="02020603050405020304" pitchFamily="18" charset="0"/>
              </a:rPr>
              <a:t>: The ultrasonic sensor continuously emits sound waves and measures the time taken for echoes to return.</a:t>
            </a:r>
          </a:p>
          <a:p>
            <a:pPr algn="just">
              <a:lnSpc>
                <a:spcPct val="120000"/>
              </a:lnSpc>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Processing</a:t>
            </a:r>
            <a:r>
              <a:rPr lang="en-US" sz="2200" dirty="0">
                <a:latin typeface="Times New Roman" panose="02020603050405020304" pitchFamily="18" charset="0"/>
                <a:cs typeface="Times New Roman" panose="02020603050405020304" pitchFamily="18" charset="0"/>
              </a:rPr>
              <a:t>: The Arduino Nano calculates the distance based on the echo time and compares it with a threshold value (e.g., 100 cm).</a:t>
            </a:r>
          </a:p>
          <a:p>
            <a:pPr algn="just">
              <a:lnSpc>
                <a:spcPct val="120000"/>
              </a:lnSpc>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Alert Generation</a:t>
            </a:r>
            <a:r>
              <a:rPr lang="en-US" sz="2200" dirty="0">
                <a:latin typeface="Times New Roman" panose="02020603050405020304" pitchFamily="18" charset="0"/>
                <a:cs typeface="Times New Roman" panose="02020603050405020304" pitchFamily="18" charset="0"/>
              </a:rPr>
              <a:t>: If an obstacle is detected within the threshold, the buzzer is activated to warn the user.</a:t>
            </a:r>
          </a:p>
          <a:p>
            <a:pPr algn="just">
              <a:lnSpc>
                <a:spcPct val="120000"/>
              </a:lnSpc>
              <a:buFont typeface="Wingdings" panose="05000000000000000000" pitchFamily="2" charset="2"/>
              <a:buChar char="v"/>
            </a:pPr>
            <a:r>
              <a:rPr lang="en-US" sz="2200" b="1" dirty="0">
                <a:latin typeface="Times New Roman" panose="02020603050405020304" pitchFamily="18" charset="0"/>
                <a:cs typeface="Times New Roman" panose="02020603050405020304" pitchFamily="18" charset="0"/>
              </a:rPr>
              <a:t>Continuous Operation</a:t>
            </a:r>
            <a:r>
              <a:rPr lang="en-US" sz="2200" dirty="0">
                <a:latin typeface="Times New Roman" panose="02020603050405020304" pitchFamily="18" charset="0"/>
                <a:cs typeface="Times New Roman" panose="02020603050405020304" pitchFamily="18" charset="0"/>
              </a:rPr>
              <a:t>: The process repeats continuously, providing real-time obstacle detection for the user. This methodology ensures accurate detection, low power consumption, and ease of use, making it ideal for visually impaired individuals</a:t>
            </a:r>
            <a:r>
              <a:rPr lang="en-US" sz="2600" dirty="0">
                <a:latin typeface="Times New Roman" panose="02020603050405020304" pitchFamily="18" charset="0"/>
                <a:cs typeface="Times New Roman" panose="02020603050405020304" pitchFamily="18" charset="0"/>
              </a:rPr>
              <a:t>.</a:t>
            </a:r>
          </a:p>
          <a:p>
            <a:endParaRPr lang="en-IN" dirty="0"/>
          </a:p>
        </p:txBody>
      </p:sp>
      <p:sp>
        <p:nvSpPr>
          <p:cNvPr id="7" name="TextBox 6">
            <a:extLst>
              <a:ext uri="{FF2B5EF4-FFF2-40B4-BE49-F238E27FC236}">
                <a16:creationId xmlns:a16="http://schemas.microsoft.com/office/drawing/2014/main" id="{ADF1FC11-AB2B-9CC5-DC8D-6D58169563A4}"/>
              </a:ext>
            </a:extLst>
          </p:cNvPr>
          <p:cNvSpPr txBox="1"/>
          <p:nvPr/>
        </p:nvSpPr>
        <p:spPr>
          <a:xfrm>
            <a:off x="3352800" y="568960"/>
            <a:ext cx="4521200"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PROPOSED METHODOLODY</a:t>
            </a:r>
            <a:endParaRPr lang="en-IN" sz="24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8C1DA1E-5F35-2BB2-ABBE-3C01856CFF88}"/>
              </a:ext>
            </a:extLst>
          </p:cNvPr>
          <p:cNvPicPr>
            <a:picLocks noChangeAspect="1"/>
          </p:cNvPicPr>
          <p:nvPr/>
        </p:nvPicPr>
        <p:blipFill>
          <a:blip r:embed="rId2"/>
          <a:stretch>
            <a:fillRect/>
          </a:stretch>
        </p:blipFill>
        <p:spPr>
          <a:xfrm>
            <a:off x="10950402" y="72093"/>
            <a:ext cx="1060796" cy="993734"/>
          </a:xfrm>
          <a:prstGeom prst="rect">
            <a:avLst/>
          </a:prstGeom>
        </p:spPr>
      </p:pic>
      <p:sp>
        <p:nvSpPr>
          <p:cNvPr id="4" name="Slide Number Placeholder 3">
            <a:extLst>
              <a:ext uri="{FF2B5EF4-FFF2-40B4-BE49-F238E27FC236}">
                <a16:creationId xmlns:a16="http://schemas.microsoft.com/office/drawing/2014/main" id="{C9DF313F-10AF-A3B6-366E-ED9D96FC8535}"/>
              </a:ext>
            </a:extLst>
          </p:cNvPr>
          <p:cNvSpPr>
            <a:spLocks noGrp="1"/>
          </p:cNvSpPr>
          <p:nvPr>
            <p:ph type="sldNum" sz="quarter" idx="12"/>
          </p:nvPr>
        </p:nvSpPr>
        <p:spPr/>
        <p:txBody>
          <a:bodyPr/>
          <a:lstStyle/>
          <a:p>
            <a:fld id="{1D61E2EE-8691-4F9F-8A0A-B2A5C6D22C5B}" type="slidenum">
              <a:rPr lang="en-IN" smtClean="0"/>
              <a:t>9</a:t>
            </a:fld>
            <a:endParaRPr lang="en-IN" dirty="0"/>
          </a:p>
        </p:txBody>
      </p:sp>
    </p:spTree>
    <p:extLst>
      <p:ext uri="{BB962C8B-B14F-4D97-AF65-F5344CB8AC3E}">
        <p14:creationId xmlns:p14="http://schemas.microsoft.com/office/powerpoint/2010/main" val="1198332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58B321-EC1D-3DCA-DF32-2474F1BA7130}"/>
              </a:ext>
            </a:extLst>
          </p:cNvPr>
          <p:cNvSpPr>
            <a:spLocks noGrp="1"/>
          </p:cNvSpPr>
          <p:nvPr>
            <p:ph idx="1"/>
          </p:nvPr>
        </p:nvSpPr>
        <p:spPr>
          <a:xfrm>
            <a:off x="111760" y="653910"/>
            <a:ext cx="11001717" cy="5702440"/>
          </a:xfrm>
        </p:spPr>
        <p:txBody>
          <a:bodyPr>
            <a:normAutofit/>
          </a:bodyPr>
          <a:lstStyle/>
          <a:p>
            <a:pPr marL="0" indent="0" algn="just">
              <a:lnSpc>
                <a:spcPct val="120000"/>
              </a:lnSpc>
              <a:buNone/>
            </a:pPr>
            <a:r>
              <a:rPr lang="en-US" sz="2000" b="1" dirty="0">
                <a:latin typeface="Times New Roman" panose="02020603050405020304" pitchFamily="18" charset="0"/>
                <a:cs typeface="Times New Roman" panose="02020603050405020304" pitchFamily="18" charset="0"/>
              </a:rPr>
              <a:t>1.System Overview</a:t>
            </a:r>
            <a:r>
              <a:rPr lang="en-US" sz="2000" dirty="0">
                <a:latin typeface="Times New Roman" panose="02020603050405020304" pitchFamily="18" charset="0"/>
                <a:cs typeface="Times New Roman" panose="02020603050405020304" pitchFamily="18" charset="0"/>
              </a:rPr>
              <a:t>: The system consists of an ultrasonic sensor, Arduino Nano, buzzer, power supply, and an ON/OFF switch, all integrated into a wearable spectacle frame. The ultrasonic sensor emits high-frequency sound waves that bounce off nearby objects. The Arduino Nano processes the reflected signals to determine the distance between the user and the obstacle. When an obstacle is detected within a predefined threshold (e.g., 100 cm), the Arduino activates the buzzer, alerting the user through an audible sound. This process repeats continuously, providing real-time feedback to the user.</a:t>
            </a:r>
          </a:p>
          <a:p>
            <a:pPr marL="0" indent="0" algn="just">
              <a:lnSpc>
                <a:spcPct val="120000"/>
              </a:lnSpc>
              <a:buNone/>
            </a:pPr>
            <a:r>
              <a:rPr lang="en-US" sz="2000" b="1" dirty="0">
                <a:latin typeface="Times New Roman" panose="02020603050405020304" pitchFamily="18" charset="0"/>
                <a:cs typeface="Times New Roman" panose="02020603050405020304" pitchFamily="18" charset="0"/>
              </a:rPr>
              <a:t>2.Working Process Power Supply and Initialization:</a:t>
            </a:r>
            <a:r>
              <a:rPr lang="en-US" sz="2000" dirty="0">
                <a:latin typeface="Times New Roman" panose="02020603050405020304" pitchFamily="18" charset="0"/>
                <a:cs typeface="Times New Roman" panose="02020603050405020304" pitchFamily="18" charset="0"/>
              </a:rPr>
              <a:t> The system is powered by a 9V battery, controlled through an ON/OFF switch. When switched ON, the Arduino initializes all input and output pins.</a:t>
            </a:r>
          </a:p>
          <a:p>
            <a:pPr marL="0" indent="0" algn="just">
              <a:lnSpc>
                <a:spcPct val="120000"/>
              </a:lnSpc>
              <a:buNone/>
            </a:pPr>
            <a:r>
              <a:rPr lang="en-US" sz="2000" b="1" dirty="0">
                <a:latin typeface="Times New Roman" panose="02020603050405020304" pitchFamily="18" charset="0"/>
                <a:cs typeface="Times New Roman" panose="02020603050405020304" pitchFamily="18" charset="0"/>
              </a:rPr>
              <a:t>Continuous Monitoring</a:t>
            </a:r>
            <a:r>
              <a:rPr lang="en-US" sz="2000" dirty="0">
                <a:latin typeface="Times New Roman" panose="02020603050405020304" pitchFamily="18" charset="0"/>
                <a:cs typeface="Times New Roman" panose="02020603050405020304" pitchFamily="18" charset="0"/>
              </a:rPr>
              <a:t>: The system runs in a loop, continuously checking for obstacles, ensuring uninterrupted assistance for the visually impaired.</a:t>
            </a:r>
          </a:p>
          <a:p>
            <a:pPr marL="0" indent="0" algn="just">
              <a:lnSpc>
                <a:spcPct val="12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endParaRPr lang="en-US" sz="3200" dirty="0">
              <a:latin typeface="Times New Roman" panose="02020603050405020304" pitchFamily="18" charset="0"/>
              <a:cs typeface="Times New Roman" panose="02020603050405020304" pitchFamily="18" charset="0"/>
            </a:endParaRPr>
          </a:p>
          <a:p>
            <a:pPr marL="0" indent="0" algn="just">
              <a:lnSpc>
                <a:spcPct val="100000"/>
              </a:lnSpc>
              <a:buNone/>
            </a:pPr>
            <a:endParaRPr lang="en-US" sz="8000"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43DBF9F3-B705-0DCE-0B04-4181F5BD3772}"/>
              </a:ext>
            </a:extLst>
          </p:cNvPr>
          <p:cNvPicPr>
            <a:picLocks noChangeAspect="1"/>
          </p:cNvPicPr>
          <p:nvPr/>
        </p:nvPicPr>
        <p:blipFill>
          <a:blip r:embed="rId2"/>
          <a:stretch>
            <a:fillRect/>
          </a:stretch>
        </p:blipFill>
        <p:spPr>
          <a:xfrm>
            <a:off x="10942320" y="0"/>
            <a:ext cx="1137920" cy="995680"/>
          </a:xfrm>
          <a:prstGeom prst="rect">
            <a:avLst/>
          </a:prstGeom>
        </p:spPr>
      </p:pic>
      <p:sp>
        <p:nvSpPr>
          <p:cNvPr id="2" name="Date Placeholder 1">
            <a:extLst>
              <a:ext uri="{FF2B5EF4-FFF2-40B4-BE49-F238E27FC236}">
                <a16:creationId xmlns:a16="http://schemas.microsoft.com/office/drawing/2014/main" id="{F8002086-E0C1-1E45-79CC-A13FDE9B3083}"/>
              </a:ext>
            </a:extLst>
          </p:cNvPr>
          <p:cNvSpPr>
            <a:spLocks noGrp="1"/>
          </p:cNvSpPr>
          <p:nvPr>
            <p:ph type="dt" sz="half" idx="10"/>
          </p:nvPr>
        </p:nvSpPr>
        <p:spPr>
          <a:xfrm>
            <a:off x="838200" y="6356350"/>
            <a:ext cx="2743200" cy="836930"/>
          </a:xfrm>
        </p:spPr>
        <p:txBody>
          <a:bodyPr/>
          <a:lstStyle/>
          <a:p>
            <a:fld id="{62AF3DF2-ED97-4018-B9ED-0BE4AD1CF0CF}" type="datetime1">
              <a:rPr lang="en-IN" smtClean="0"/>
              <a:t>25-11-2025</a:t>
            </a:fld>
            <a:endParaRPr lang="en-IN" dirty="0"/>
          </a:p>
        </p:txBody>
      </p:sp>
      <p:sp>
        <p:nvSpPr>
          <p:cNvPr id="5" name="Slide Number Placeholder 4">
            <a:extLst>
              <a:ext uri="{FF2B5EF4-FFF2-40B4-BE49-F238E27FC236}">
                <a16:creationId xmlns:a16="http://schemas.microsoft.com/office/drawing/2014/main" id="{B402E0C0-86B9-C851-DB88-8FA3B545465D}"/>
              </a:ext>
            </a:extLst>
          </p:cNvPr>
          <p:cNvSpPr>
            <a:spLocks noGrp="1"/>
          </p:cNvSpPr>
          <p:nvPr>
            <p:ph type="sldNum" sz="quarter" idx="12"/>
          </p:nvPr>
        </p:nvSpPr>
        <p:spPr/>
        <p:txBody>
          <a:bodyPr/>
          <a:lstStyle/>
          <a:p>
            <a:fld id="{1D61E2EE-8691-4F9F-8A0A-B2A5C6D22C5B}" type="slidenum">
              <a:rPr lang="en-IN" smtClean="0"/>
              <a:t>10</a:t>
            </a:fld>
            <a:endParaRPr lang="en-IN" dirty="0"/>
          </a:p>
        </p:txBody>
      </p:sp>
    </p:spTree>
    <p:extLst>
      <p:ext uri="{BB962C8B-B14F-4D97-AF65-F5344CB8AC3E}">
        <p14:creationId xmlns:p14="http://schemas.microsoft.com/office/powerpoint/2010/main" val="549272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313581-C290-7F0D-44D2-3C4D2C983973}"/>
              </a:ext>
            </a:extLst>
          </p:cNvPr>
          <p:cNvSpPr>
            <a:spLocks noGrp="1"/>
          </p:cNvSpPr>
          <p:nvPr>
            <p:ph idx="1"/>
          </p:nvPr>
        </p:nvSpPr>
        <p:spPr>
          <a:xfrm>
            <a:off x="0" y="0"/>
            <a:ext cx="12192000" cy="6858000"/>
          </a:xfrm>
        </p:spPr>
        <p:txBody>
          <a:bodyPr/>
          <a:lstStyle/>
          <a:p>
            <a:pPr algn="just">
              <a:buFont typeface="Wingdings" panose="05000000000000000000" pitchFamily="2" charset="2"/>
              <a:buChar char="v"/>
            </a:pPr>
            <a:endParaRPr lang="en-US" dirty="0"/>
          </a:p>
          <a:p>
            <a:pPr marL="0" indent="0" algn="just">
              <a:buNone/>
            </a:pPr>
            <a:endParaRPr lang="en-US" dirty="0"/>
          </a:p>
          <a:p>
            <a:pPr marL="0" indent="0" algn="just">
              <a:lnSpc>
                <a:spcPct val="100000"/>
              </a:lnSpc>
              <a:buNone/>
            </a:pPr>
            <a:r>
              <a:rPr lang="en-US" sz="2400" b="1" dirty="0">
                <a:latin typeface="Times New Roman" panose="02020603050405020304" pitchFamily="18" charset="0"/>
                <a:cs typeface="Times New Roman" panose="02020603050405020304" pitchFamily="18" charset="0"/>
              </a:rPr>
              <a:t>3.</a:t>
            </a:r>
            <a:r>
              <a:rPr lang="en-US" sz="2000" b="1" dirty="0">
                <a:latin typeface="Times New Roman" panose="02020603050405020304" pitchFamily="18" charset="0"/>
                <a:cs typeface="Times New Roman" panose="02020603050405020304" pitchFamily="18" charset="0"/>
              </a:rPr>
              <a:t>Software Methodology: </a:t>
            </a:r>
            <a:r>
              <a:rPr lang="en-US" sz="2000" dirty="0">
                <a:latin typeface="Times New Roman" panose="02020603050405020304" pitchFamily="18" charset="0"/>
                <a:cs typeface="Times New Roman" panose="02020603050405020304" pitchFamily="18" charset="0"/>
              </a:rPr>
              <a:t>The software part involves Arduino IDE programming, where the logic is written in embedded C/C++.</a:t>
            </a:r>
          </a:p>
          <a:p>
            <a:pPr algn="just">
              <a:lnSpc>
                <a:spcPct val="1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Trigger and Echo pins of the ultrasonic sensor are controlled by the Arduino.</a:t>
            </a:r>
          </a:p>
          <a:p>
            <a:pPr algn="just">
              <a:lnSpc>
                <a:spcPct val="1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Distance readings are continuously calculated and compared to the set threshold.</a:t>
            </a:r>
          </a:p>
          <a:p>
            <a:pPr algn="just">
              <a:lnSpc>
                <a:spcPct val="1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buzzer output is handled through a digital pin that turns ON/OFF based on the distance detected. </a:t>
            </a: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4. Advantages of the Methodology: </a:t>
            </a:r>
            <a:r>
              <a:rPr lang="en-US" sz="2000" dirty="0">
                <a:latin typeface="Times New Roman" panose="02020603050405020304" pitchFamily="18" charset="0"/>
                <a:cs typeface="Times New Roman" panose="02020603050405020304" pitchFamily="18" charset="0"/>
              </a:rPr>
              <a:t>Real-time obstacle detection with quick response.</a:t>
            </a:r>
          </a:p>
          <a:p>
            <a:pPr algn="just">
              <a:lnSpc>
                <a:spcPct val="1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Compact and lightweight design suitable for wearable use.</a:t>
            </a:r>
          </a:p>
          <a:p>
            <a:pPr algn="just">
              <a:lnSpc>
                <a:spcPct val="1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Low power consumption with a simple ON/OFF control.</a:t>
            </a:r>
          </a:p>
          <a:p>
            <a:pPr algn="just">
              <a:lnSpc>
                <a:spcPct val="1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Affordable and easy to build, using commonly available components.</a:t>
            </a:r>
          </a:p>
          <a:p>
            <a:pPr algn="just">
              <a:lnSpc>
                <a:spcPct val="100000"/>
              </a:lnSpc>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384B421-AC51-A246-25FE-E38661302DAD}"/>
              </a:ext>
            </a:extLst>
          </p:cNvPr>
          <p:cNvPicPr>
            <a:picLocks noChangeAspect="1"/>
          </p:cNvPicPr>
          <p:nvPr/>
        </p:nvPicPr>
        <p:blipFill>
          <a:blip r:embed="rId2"/>
          <a:stretch>
            <a:fillRect/>
          </a:stretch>
        </p:blipFill>
        <p:spPr>
          <a:xfrm>
            <a:off x="10951414" y="120872"/>
            <a:ext cx="1140051" cy="743776"/>
          </a:xfrm>
          <a:prstGeom prst="rect">
            <a:avLst/>
          </a:prstGeom>
        </p:spPr>
      </p:pic>
      <p:sp>
        <p:nvSpPr>
          <p:cNvPr id="2" name="Date Placeholder 1">
            <a:extLst>
              <a:ext uri="{FF2B5EF4-FFF2-40B4-BE49-F238E27FC236}">
                <a16:creationId xmlns:a16="http://schemas.microsoft.com/office/drawing/2014/main" id="{E0296071-A98C-CDDF-07A5-4F89FCCD9E1A}"/>
              </a:ext>
            </a:extLst>
          </p:cNvPr>
          <p:cNvSpPr>
            <a:spLocks noGrp="1"/>
          </p:cNvSpPr>
          <p:nvPr>
            <p:ph type="dt" sz="half" idx="10"/>
          </p:nvPr>
        </p:nvSpPr>
        <p:spPr/>
        <p:txBody>
          <a:bodyPr/>
          <a:lstStyle/>
          <a:p>
            <a:fld id="{882F24C6-554E-46A9-A3E0-1B9E11926D91}" type="datetime1">
              <a:rPr lang="en-IN" smtClean="0"/>
              <a:t>25-11-2025</a:t>
            </a:fld>
            <a:endParaRPr lang="en-IN" dirty="0"/>
          </a:p>
        </p:txBody>
      </p:sp>
      <p:sp>
        <p:nvSpPr>
          <p:cNvPr id="5" name="Slide Number Placeholder 4">
            <a:extLst>
              <a:ext uri="{FF2B5EF4-FFF2-40B4-BE49-F238E27FC236}">
                <a16:creationId xmlns:a16="http://schemas.microsoft.com/office/drawing/2014/main" id="{FA657C28-6DC0-35DD-61BB-27AD303454AB}"/>
              </a:ext>
            </a:extLst>
          </p:cNvPr>
          <p:cNvSpPr>
            <a:spLocks noGrp="1"/>
          </p:cNvSpPr>
          <p:nvPr>
            <p:ph type="sldNum" sz="quarter" idx="12"/>
          </p:nvPr>
        </p:nvSpPr>
        <p:spPr/>
        <p:txBody>
          <a:bodyPr/>
          <a:lstStyle/>
          <a:p>
            <a:fld id="{1D61E2EE-8691-4F9F-8A0A-B2A5C6D22C5B}" type="slidenum">
              <a:rPr lang="en-IN" smtClean="0"/>
              <a:t>11</a:t>
            </a:fld>
            <a:endParaRPr lang="en-IN" dirty="0"/>
          </a:p>
        </p:txBody>
      </p:sp>
    </p:spTree>
    <p:extLst>
      <p:ext uri="{BB962C8B-B14F-4D97-AF65-F5344CB8AC3E}">
        <p14:creationId xmlns:p14="http://schemas.microsoft.com/office/powerpoint/2010/main" val="2377883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CBE613-AE57-3D11-D445-94E835A03800}"/>
              </a:ext>
            </a:extLst>
          </p:cNvPr>
          <p:cNvSpPr txBox="1"/>
          <p:nvPr/>
        </p:nvSpPr>
        <p:spPr>
          <a:xfrm>
            <a:off x="0" y="0"/>
            <a:ext cx="12192000" cy="6370975"/>
          </a:xfrm>
          <a:prstGeom prst="rect">
            <a:avLst/>
          </a:prstGeom>
          <a:noFill/>
        </p:spPr>
        <p:txBody>
          <a:bodyPr wrap="square" rtlCol="0">
            <a:spAutoFit/>
          </a:bodyPr>
          <a:lstStyle/>
          <a:p>
            <a:pPr marL="342900" indent="-342900">
              <a:buFont typeface="Wingdings" panose="05000000000000000000" pitchFamily="2" charset="2"/>
              <a:buChar char="v"/>
            </a:pP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Obstacle Detection:</a:t>
            </a:r>
            <a:r>
              <a:rPr lang="en-US" sz="2000" dirty="0">
                <a:latin typeface="Times New Roman" panose="02020603050405020304" pitchFamily="18" charset="0"/>
                <a:cs typeface="Times New Roman" panose="02020603050405020304" pitchFamily="18" charset="0"/>
              </a:rPr>
              <a:t> The ultrasonic sensor (HC-SR04) transmits ultrasonic pulses and waits for them to reflect back from an obstacle. The time taken for the echo to return is measured to calculate the distance using the formula</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Distance = Time x speed of sound</a:t>
            </a:r>
          </a:p>
          <a:p>
            <a:r>
              <a:rPr lang="en-US" sz="2000" dirty="0">
                <a:latin typeface="Times New Roman" panose="02020603050405020304" pitchFamily="18" charset="0"/>
                <a:cs typeface="Times New Roman" panose="02020603050405020304" pitchFamily="18" charset="0"/>
              </a:rPr>
              <a:t>                                            2</a:t>
            </a:r>
          </a:p>
          <a:p>
            <a:r>
              <a:rPr lang="en-US" sz="2000" dirty="0">
                <a:latin typeface="Times New Roman" panose="02020603050405020304" pitchFamily="18" charset="0"/>
                <a:cs typeface="Times New Roman" panose="02020603050405020304" pitchFamily="18" charset="0"/>
              </a:rPr>
              <a:t>           Distance =                2</a:t>
            </a:r>
          </a:p>
          <a:p>
            <a:r>
              <a:rPr lang="en-US" sz="2000" dirty="0">
                <a:latin typeface="Times New Roman" panose="02020603050405020304" pitchFamily="18" charset="0"/>
                <a:cs typeface="Times New Roman" panose="02020603050405020304" pitchFamily="18" charset="0"/>
              </a:rPr>
              <a:t>                               Time x speed of sound</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Signal Processing</a:t>
            </a:r>
            <a:r>
              <a:rPr lang="en-US" sz="2000" dirty="0">
                <a:latin typeface="Times New Roman" panose="02020603050405020304" pitchFamily="18" charset="0"/>
                <a:cs typeface="Times New Roman" panose="02020603050405020304" pitchFamily="18" charset="0"/>
              </a:rPr>
              <a:t>: The Arduino Nano receives the echo time, computes the distance, and compares it with a set threshold. If the distance is less than 100 cm, the buzzer is activated. If the distance is greater than 100 cm, the buzzer remains off.</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Alert Mechanism</a:t>
            </a:r>
            <a:r>
              <a:rPr lang="en-US" sz="2000" dirty="0">
                <a:latin typeface="Times New Roman" panose="02020603050405020304" pitchFamily="18" charset="0"/>
                <a:cs typeface="Times New Roman" panose="02020603050405020304" pitchFamily="18" charset="0"/>
              </a:rPr>
              <a:t>: The buzzer provides an audible alert, which increases user awareness of nearby obstacles. The alert is immediate, ensuring quick reaction time for the user.</a:t>
            </a:r>
          </a:p>
          <a:p>
            <a:pPr marL="342900" indent="-34290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p>
        </p:txBody>
      </p:sp>
      <p:cxnSp>
        <p:nvCxnSpPr>
          <p:cNvPr id="13" name="Straight Connector 12">
            <a:extLst>
              <a:ext uri="{FF2B5EF4-FFF2-40B4-BE49-F238E27FC236}">
                <a16:creationId xmlns:a16="http://schemas.microsoft.com/office/drawing/2014/main" id="{BBBDB6B8-CAD3-0E12-D589-CEF2EA876F16}"/>
              </a:ext>
            </a:extLst>
          </p:cNvPr>
          <p:cNvCxnSpPr>
            <a:cxnSpLocks/>
          </p:cNvCxnSpPr>
          <p:nvPr/>
        </p:nvCxnSpPr>
        <p:spPr>
          <a:xfrm>
            <a:off x="1663337" y="2310004"/>
            <a:ext cx="2865120" cy="0"/>
          </a:xfrm>
          <a:prstGeom prst="line">
            <a:avLst/>
          </a:prstGeom>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737DE55F-6D40-8C2E-E47F-651EE1FC764D}"/>
              </a:ext>
            </a:extLst>
          </p:cNvPr>
          <p:cNvPicPr>
            <a:picLocks noChangeAspect="1"/>
          </p:cNvPicPr>
          <p:nvPr/>
        </p:nvPicPr>
        <p:blipFill>
          <a:blip r:embed="rId3"/>
          <a:stretch>
            <a:fillRect/>
          </a:stretch>
        </p:blipFill>
        <p:spPr>
          <a:xfrm>
            <a:off x="10889389" y="81280"/>
            <a:ext cx="1140051" cy="741680"/>
          </a:xfrm>
          <a:prstGeom prst="rect">
            <a:avLst/>
          </a:prstGeom>
        </p:spPr>
      </p:pic>
      <p:cxnSp>
        <p:nvCxnSpPr>
          <p:cNvPr id="16" name="Straight Connector 15">
            <a:extLst>
              <a:ext uri="{FF2B5EF4-FFF2-40B4-BE49-F238E27FC236}">
                <a16:creationId xmlns:a16="http://schemas.microsoft.com/office/drawing/2014/main" id="{292746B9-7ADE-319C-C89F-CC9892BC06C9}"/>
              </a:ext>
            </a:extLst>
          </p:cNvPr>
          <p:cNvCxnSpPr>
            <a:cxnSpLocks/>
          </p:cNvCxnSpPr>
          <p:nvPr/>
        </p:nvCxnSpPr>
        <p:spPr>
          <a:xfrm>
            <a:off x="1663337" y="2890241"/>
            <a:ext cx="286512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040840D9-59B5-3E80-5BFC-D2FDE2D6214A}"/>
              </a:ext>
            </a:extLst>
          </p:cNvPr>
          <p:cNvSpPr>
            <a:spLocks noGrp="1"/>
          </p:cNvSpPr>
          <p:nvPr>
            <p:ph type="dt" sz="half" idx="10"/>
          </p:nvPr>
        </p:nvSpPr>
        <p:spPr/>
        <p:txBody>
          <a:bodyPr/>
          <a:lstStyle/>
          <a:p>
            <a:fld id="{F1B88994-C634-4052-8D60-9243DD8E7B4E}" type="datetime1">
              <a:rPr lang="en-IN" smtClean="0"/>
              <a:t>25-11-2025</a:t>
            </a:fld>
            <a:endParaRPr lang="en-IN" dirty="0"/>
          </a:p>
        </p:txBody>
      </p:sp>
      <p:sp>
        <p:nvSpPr>
          <p:cNvPr id="4" name="Slide Number Placeholder 3">
            <a:extLst>
              <a:ext uri="{FF2B5EF4-FFF2-40B4-BE49-F238E27FC236}">
                <a16:creationId xmlns:a16="http://schemas.microsoft.com/office/drawing/2014/main" id="{526CDE76-2668-A71C-AB2D-7C472A63181D}"/>
              </a:ext>
            </a:extLst>
          </p:cNvPr>
          <p:cNvSpPr>
            <a:spLocks noGrp="1"/>
          </p:cNvSpPr>
          <p:nvPr>
            <p:ph type="sldNum" sz="quarter" idx="12"/>
          </p:nvPr>
        </p:nvSpPr>
        <p:spPr/>
        <p:txBody>
          <a:bodyPr/>
          <a:lstStyle/>
          <a:p>
            <a:fld id="{1D61E2EE-8691-4F9F-8A0A-B2A5C6D22C5B}" type="slidenum">
              <a:rPr lang="en-IN" smtClean="0"/>
              <a:t>12</a:t>
            </a:fld>
            <a:endParaRPr lang="en-IN" dirty="0"/>
          </a:p>
        </p:txBody>
      </p:sp>
    </p:spTree>
    <p:extLst>
      <p:ext uri="{BB962C8B-B14F-4D97-AF65-F5344CB8AC3E}">
        <p14:creationId xmlns:p14="http://schemas.microsoft.com/office/powerpoint/2010/main" val="2975187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E9CEDE-A10B-C0B6-C4F2-73227B5DCBA3}"/>
              </a:ext>
            </a:extLst>
          </p:cNvPr>
          <p:cNvSpPr>
            <a:spLocks noGrp="1"/>
          </p:cNvSpPr>
          <p:nvPr>
            <p:ph idx="1"/>
          </p:nvPr>
        </p:nvSpPr>
        <p:spPr>
          <a:xfrm>
            <a:off x="0" y="0"/>
            <a:ext cx="12192000" cy="6858000"/>
          </a:xfrm>
        </p:spPr>
        <p:txBody>
          <a:bodyPr>
            <a:normAutofit fontScale="92500"/>
          </a:bodyPr>
          <a:lstStyle/>
          <a:p>
            <a:pPr marL="0" indent="0">
              <a:buNone/>
            </a:pPr>
            <a:r>
              <a:rPr lang="en-US" dirty="0"/>
              <a:t>      </a:t>
            </a:r>
            <a:endParaRPr lang="en-US" b="1" dirty="0">
              <a:latin typeface="Times New Roman" panose="02020603050405020304" pitchFamily="18" charset="0"/>
              <a:cs typeface="Times New Roman" panose="02020603050405020304" pitchFamily="18" charset="0"/>
            </a:endParaRPr>
          </a:p>
          <a:p>
            <a:pPr marL="0" indent="0">
              <a:lnSpc>
                <a:spcPct val="110000"/>
              </a:lnSpc>
              <a:buNone/>
            </a:pPr>
            <a:r>
              <a:rPr lang="en-US" sz="2600" b="1" dirty="0">
                <a:latin typeface="Times New Roman" panose="02020603050405020304" pitchFamily="18" charset="0"/>
                <a:cs typeface="Times New Roman" panose="02020603050405020304" pitchFamily="18" charset="0"/>
              </a:rPr>
              <a:t>                                                              FORMULA USED</a:t>
            </a:r>
          </a:p>
          <a:p>
            <a:pPr>
              <a:lnSpc>
                <a:spcPct val="120000"/>
              </a:lnSpc>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The working of the ultrasonic sensor is based on measuring the time taken by ultrasonic waves to travel to an obstacle and reflect back to the sensor. The Arduino calculates the distance of the object using the time-of-flight principle of sound waves.</a:t>
            </a:r>
          </a:p>
          <a:p>
            <a:pPr marL="0" indent="0">
              <a:lnSpc>
                <a:spcPct val="110000"/>
              </a:lnSpc>
              <a:buNone/>
            </a:pPr>
            <a:r>
              <a:rPr lang="en-US" sz="2200" dirty="0">
                <a:latin typeface="Times New Roman" panose="02020603050405020304" pitchFamily="18" charset="0"/>
                <a:cs typeface="Times New Roman" panose="02020603050405020304" pitchFamily="18" charset="0"/>
              </a:rPr>
              <a:t>1. </a:t>
            </a:r>
            <a:r>
              <a:rPr lang="en-US" sz="2200" b="1" dirty="0">
                <a:latin typeface="Times New Roman" panose="02020603050405020304" pitchFamily="18" charset="0"/>
                <a:cs typeface="Times New Roman" panose="02020603050405020304" pitchFamily="18" charset="0"/>
              </a:rPr>
              <a:t>Basic Formula</a:t>
            </a:r>
          </a:p>
          <a:p>
            <a:pPr marL="0" indent="0">
              <a:lnSpc>
                <a:spcPct val="110000"/>
              </a:lnSpc>
              <a:buNone/>
            </a:pPr>
            <a:r>
              <a:rPr lang="en-US" sz="2200" dirty="0">
                <a:latin typeface="Times New Roman" panose="02020603050405020304" pitchFamily="18" charset="0"/>
                <a:cs typeface="Times New Roman" panose="02020603050405020304" pitchFamily="18" charset="0"/>
              </a:rPr>
              <a:t>                        Distance  = Speed of Sound × Time</a:t>
            </a:r>
          </a:p>
          <a:p>
            <a:pPr marL="0" indent="0">
              <a:lnSpc>
                <a:spcPct val="110000"/>
              </a:lnSpc>
              <a:buNone/>
            </a:pPr>
            <a:r>
              <a:rPr lang="en-US" sz="2200" dirty="0">
                <a:latin typeface="Times New Roman" panose="02020603050405020304" pitchFamily="18" charset="0"/>
                <a:cs typeface="Times New Roman" panose="02020603050405020304" pitchFamily="18" charset="0"/>
              </a:rPr>
              <a:t>                                                           2</a:t>
            </a:r>
          </a:p>
          <a:p>
            <a:pPr marL="0" indent="0">
              <a:lnSpc>
                <a:spcPct val="110000"/>
              </a:lnSpc>
              <a:buNone/>
            </a:pPr>
            <a:r>
              <a:rPr lang="en-US" sz="2200" dirty="0">
                <a:latin typeface="Times New Roman" panose="02020603050405020304" pitchFamily="18" charset="0"/>
                <a:cs typeface="Times New Roman" panose="02020603050405020304" pitchFamily="18" charset="0"/>
              </a:rPr>
              <a:t>                        Distance  =                 2</a:t>
            </a:r>
          </a:p>
          <a:p>
            <a:pPr marL="0" indent="0">
              <a:lnSpc>
                <a:spcPct val="110000"/>
              </a:lnSpc>
              <a:buNone/>
            </a:pPr>
            <a:r>
              <a:rPr lang="en-US" sz="2200" dirty="0">
                <a:latin typeface="Times New Roman" panose="02020603050405020304" pitchFamily="18" charset="0"/>
                <a:cs typeface="Times New Roman" panose="02020603050405020304" pitchFamily="18" charset="0"/>
              </a:rPr>
              <a:t>                                              Speed of Sound × Time</a:t>
            </a:r>
          </a:p>
          <a:p>
            <a:pPr marL="0" indent="0">
              <a:lnSpc>
                <a:spcPct val="110000"/>
              </a:lnSpc>
              <a:buNone/>
            </a:pPr>
            <a:r>
              <a:rPr lang="en-US" sz="2200" dirty="0">
                <a:latin typeface="Times New Roman" panose="02020603050405020304" pitchFamily="18" charset="0"/>
                <a:cs typeface="Times New Roman" panose="02020603050405020304" pitchFamily="18" charset="0"/>
              </a:rPr>
              <a:t>2. </a:t>
            </a:r>
            <a:r>
              <a:rPr lang="en-US" sz="2200" b="1" dirty="0">
                <a:latin typeface="Times New Roman" panose="02020603050405020304" pitchFamily="18" charset="0"/>
                <a:cs typeface="Times New Roman" panose="02020603050405020304" pitchFamily="18" charset="0"/>
              </a:rPr>
              <a:t>Explanation of Terms Distance</a:t>
            </a:r>
            <a:r>
              <a:rPr lang="en-US" sz="2200" dirty="0">
                <a:latin typeface="Times New Roman" panose="02020603050405020304" pitchFamily="18" charset="0"/>
                <a:cs typeface="Times New Roman" panose="02020603050405020304" pitchFamily="18" charset="0"/>
              </a:rPr>
              <a:t>: The measured distance between the sensor and the obstacle (in centimeters).</a:t>
            </a:r>
          </a:p>
          <a:p>
            <a:pPr marL="0" indent="0">
              <a:lnSpc>
                <a:spcPct val="110000"/>
              </a:lnSpc>
              <a:buNone/>
            </a:pPr>
            <a:r>
              <a:rPr lang="en-US" sz="2200" b="1" dirty="0">
                <a:latin typeface="Times New Roman" panose="02020603050405020304" pitchFamily="18" charset="0"/>
                <a:cs typeface="Times New Roman" panose="02020603050405020304" pitchFamily="18" charset="0"/>
              </a:rPr>
              <a:t>Speed of Sound</a:t>
            </a:r>
            <a:r>
              <a:rPr lang="en-US" sz="2200" dirty="0">
                <a:latin typeface="Times New Roman" panose="02020603050405020304" pitchFamily="18" charset="0"/>
                <a:cs typeface="Times New Roman" panose="02020603050405020304" pitchFamily="18" charset="0"/>
              </a:rPr>
              <a:t>: The speed of sound in air at room temperature is approximately 343 m/s or 0.0343 cm/µs.</a:t>
            </a:r>
          </a:p>
          <a:p>
            <a:pPr marL="0" indent="0">
              <a:lnSpc>
                <a:spcPct val="110000"/>
              </a:lnSpc>
              <a:buNone/>
            </a:pPr>
            <a:r>
              <a:rPr lang="en-US" sz="2200" b="1" dirty="0">
                <a:latin typeface="Times New Roman" panose="02020603050405020304" pitchFamily="18" charset="0"/>
                <a:cs typeface="Times New Roman" panose="02020603050405020304" pitchFamily="18" charset="0"/>
              </a:rPr>
              <a:t>Time</a:t>
            </a:r>
            <a:r>
              <a:rPr lang="en-US" sz="2200" dirty="0">
                <a:latin typeface="Times New Roman" panose="02020603050405020304" pitchFamily="18" charset="0"/>
                <a:cs typeface="Times New Roman" panose="02020603050405020304" pitchFamily="18" charset="0"/>
              </a:rPr>
              <a:t>: The total time taken for the sound wave to travel to the obstacle and return (in microseconds). The total distance covered is twice the one-way distance.</a:t>
            </a:r>
          </a:p>
          <a:p>
            <a:pPr marL="0" indent="0">
              <a:lnSpc>
                <a:spcPct val="110000"/>
              </a:lnSpc>
              <a:buNone/>
            </a:pPr>
            <a:endParaRPr lang="en-IN"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07ED703-DD27-6573-D622-FA616F74A897}"/>
              </a:ext>
            </a:extLst>
          </p:cNvPr>
          <p:cNvPicPr>
            <a:picLocks noChangeAspect="1"/>
          </p:cNvPicPr>
          <p:nvPr/>
        </p:nvPicPr>
        <p:blipFill>
          <a:blip r:embed="rId2"/>
          <a:stretch>
            <a:fillRect/>
          </a:stretch>
        </p:blipFill>
        <p:spPr>
          <a:xfrm>
            <a:off x="10951414" y="120872"/>
            <a:ext cx="1140051" cy="743776"/>
          </a:xfrm>
          <a:prstGeom prst="rect">
            <a:avLst/>
          </a:prstGeom>
        </p:spPr>
      </p:pic>
      <p:cxnSp>
        <p:nvCxnSpPr>
          <p:cNvPr id="12" name="Straight Connector 11">
            <a:extLst>
              <a:ext uri="{FF2B5EF4-FFF2-40B4-BE49-F238E27FC236}">
                <a16:creationId xmlns:a16="http://schemas.microsoft.com/office/drawing/2014/main" id="{724199A7-465F-3538-6CC2-02A70BD8EC48}"/>
              </a:ext>
            </a:extLst>
          </p:cNvPr>
          <p:cNvCxnSpPr/>
          <p:nvPr/>
        </p:nvCxnSpPr>
        <p:spPr>
          <a:xfrm>
            <a:off x="2731142" y="3116106"/>
            <a:ext cx="26212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DA2FA8C-0170-6E33-FFA8-44C63E4601FF}"/>
              </a:ext>
            </a:extLst>
          </p:cNvPr>
          <p:cNvCxnSpPr>
            <a:cxnSpLocks/>
          </p:cNvCxnSpPr>
          <p:nvPr/>
        </p:nvCxnSpPr>
        <p:spPr>
          <a:xfrm flipH="1">
            <a:off x="2965715" y="4031175"/>
            <a:ext cx="252984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9690E6A-0C62-597C-4076-2B1352F88EAB}"/>
              </a:ext>
            </a:extLst>
          </p:cNvPr>
          <p:cNvSpPr>
            <a:spLocks noGrp="1"/>
          </p:cNvSpPr>
          <p:nvPr>
            <p:ph type="dt" sz="half" idx="10"/>
          </p:nvPr>
        </p:nvSpPr>
        <p:spPr>
          <a:xfrm>
            <a:off x="838200" y="6356350"/>
            <a:ext cx="2743200" cy="577849"/>
          </a:xfrm>
        </p:spPr>
        <p:txBody>
          <a:bodyPr/>
          <a:lstStyle/>
          <a:p>
            <a:fld id="{E0BB118F-48F3-4997-9306-C55AC747893E}" type="datetime1">
              <a:rPr lang="en-IN" smtClean="0"/>
              <a:t>25-11-2025</a:t>
            </a:fld>
            <a:endParaRPr lang="en-IN" dirty="0"/>
          </a:p>
        </p:txBody>
      </p:sp>
      <p:sp>
        <p:nvSpPr>
          <p:cNvPr id="4" name="Slide Number Placeholder 3">
            <a:extLst>
              <a:ext uri="{FF2B5EF4-FFF2-40B4-BE49-F238E27FC236}">
                <a16:creationId xmlns:a16="http://schemas.microsoft.com/office/drawing/2014/main" id="{C0BFD91C-ED04-784F-0754-A8B501D0350C}"/>
              </a:ext>
            </a:extLst>
          </p:cNvPr>
          <p:cNvSpPr>
            <a:spLocks noGrp="1"/>
          </p:cNvSpPr>
          <p:nvPr>
            <p:ph type="sldNum" sz="quarter" idx="12"/>
          </p:nvPr>
        </p:nvSpPr>
        <p:spPr/>
        <p:txBody>
          <a:bodyPr/>
          <a:lstStyle/>
          <a:p>
            <a:fld id="{1D61E2EE-8691-4F9F-8A0A-B2A5C6D22C5B}" type="slidenum">
              <a:rPr lang="en-IN" smtClean="0"/>
              <a:t>13</a:t>
            </a:fld>
            <a:endParaRPr lang="en-IN" dirty="0"/>
          </a:p>
        </p:txBody>
      </p:sp>
    </p:spTree>
    <p:extLst>
      <p:ext uri="{BB962C8B-B14F-4D97-AF65-F5344CB8AC3E}">
        <p14:creationId xmlns:p14="http://schemas.microsoft.com/office/powerpoint/2010/main" val="3910258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C858E0F-8034-498E-EA78-692D1C33314C}"/>
              </a:ext>
            </a:extLst>
          </p:cNvPr>
          <p:cNvSpPr>
            <a:spLocks noGrp="1"/>
          </p:cNvSpPr>
          <p:nvPr>
            <p:ph idx="1"/>
          </p:nvPr>
        </p:nvSpPr>
        <p:spPr>
          <a:xfrm>
            <a:off x="0" y="0"/>
            <a:ext cx="12192000" cy="6858000"/>
          </a:xfrm>
        </p:spPr>
        <p:txBody>
          <a:bodyPr/>
          <a:lstStyle/>
          <a:p>
            <a:pPr marL="0" indent="0">
              <a:buNone/>
            </a:pPr>
            <a:endParaRPr lang="en-US" sz="2400" b="1" dirty="0">
              <a:latin typeface="Times New Roman" panose="02020603050405020304" pitchFamily="18" charset="0"/>
              <a:cs typeface="Times New Roman" panose="02020603050405020304" pitchFamily="18" charset="0"/>
            </a:endParaRPr>
          </a:p>
          <a:p>
            <a:pPr marL="0" indent="0" algn="ctr">
              <a:buNone/>
            </a:pPr>
            <a:r>
              <a:rPr lang="en-US" sz="2000" b="1" dirty="0">
                <a:latin typeface="Times New Roman" panose="02020603050405020304" pitchFamily="18" charset="0"/>
                <a:cs typeface="Times New Roman" panose="02020603050405020304" pitchFamily="18" charset="0"/>
              </a:rPr>
              <a:t>Example Calculation</a:t>
            </a:r>
          </a:p>
          <a:p>
            <a:pPr marL="0" indent="0" algn="ctr">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If the ultrasonic sensor measures a duration of 580 µs, then:</a:t>
            </a:r>
          </a:p>
          <a:p>
            <a:pPr marL="0" indent="0">
              <a:buNone/>
            </a:pPr>
            <a:r>
              <a:rPr lang="en-US" sz="2000" dirty="0">
                <a:latin typeface="Times New Roman" panose="02020603050405020304" pitchFamily="18" charset="0"/>
                <a:cs typeface="Times New Roman" panose="02020603050405020304" pitchFamily="18" charset="0"/>
              </a:rPr>
              <a:t>                                  Distance = 580 × 0.0343</a:t>
            </a:r>
          </a:p>
          <a:p>
            <a:pPr marL="0" indent="0">
              <a:buNone/>
            </a:pPr>
            <a:r>
              <a:rPr lang="en-US" sz="2000" dirty="0">
                <a:latin typeface="Times New Roman" panose="02020603050405020304" pitchFamily="18" charset="0"/>
                <a:cs typeface="Times New Roman" panose="02020603050405020304" pitchFamily="18" charset="0"/>
              </a:rPr>
              <a:t>                                                            2</a:t>
            </a:r>
          </a:p>
          <a:p>
            <a:pPr marL="0" indent="0">
              <a:buNone/>
            </a:pPr>
            <a:r>
              <a:rPr lang="en-US" sz="2000" dirty="0">
                <a:latin typeface="Times New Roman" panose="02020603050405020304" pitchFamily="18" charset="0"/>
                <a:cs typeface="Times New Roman" panose="02020603050405020304" pitchFamily="18" charset="0"/>
              </a:rPr>
              <a:t>                                                  = 9.95</a:t>
            </a:r>
          </a:p>
          <a:p>
            <a:pPr marL="0" indent="0">
              <a:buNone/>
            </a:pPr>
            <a:r>
              <a:rPr lang="en-US" sz="2000" dirty="0">
                <a:latin typeface="Times New Roman" panose="02020603050405020304" pitchFamily="18" charset="0"/>
                <a:cs typeface="Times New Roman" panose="02020603050405020304" pitchFamily="18" charset="0"/>
              </a:rPr>
              <a:t>                                  Distance  =          2</a:t>
            </a:r>
          </a:p>
          <a:p>
            <a:pPr marL="0" indent="0">
              <a:buNone/>
            </a:pPr>
            <a:r>
              <a:rPr lang="en-US" sz="2000" dirty="0">
                <a:latin typeface="Times New Roman" panose="02020603050405020304" pitchFamily="18" charset="0"/>
                <a:cs typeface="Times New Roman" panose="02020603050405020304" pitchFamily="18" charset="0"/>
              </a:rPr>
              <a:t>                                                     580 × 0.0343 </a:t>
            </a:r>
          </a:p>
          <a:p>
            <a:pPr marL="0" indent="0">
              <a:buNone/>
            </a:pPr>
            <a:r>
              <a:rPr lang="en-US" sz="2000" dirty="0">
                <a:latin typeface="Times New Roman" panose="02020603050405020304" pitchFamily="18" charset="0"/>
                <a:cs typeface="Times New Roman" panose="02020603050405020304" pitchFamily="18" charset="0"/>
              </a:rPr>
              <a:t>                                                  = 9.95</a:t>
            </a:r>
          </a:p>
          <a:p>
            <a:pPr marL="0" indent="0">
              <a:buNone/>
            </a:pPr>
            <a:r>
              <a:rPr lang="en-US" sz="2000" dirty="0">
                <a:latin typeface="Times New Roman" panose="02020603050405020304" pitchFamily="18" charset="0"/>
                <a:cs typeface="Times New Roman" panose="02020603050405020304" pitchFamily="18" charset="0"/>
              </a:rPr>
              <a:t>  So, the obstacle is approximately 10 cm away from the sensor.    </a:t>
            </a:r>
          </a:p>
          <a:p>
            <a:pPr marL="0" indent="0">
              <a:buNone/>
            </a:pPr>
            <a:r>
              <a:rPr lang="en-US" sz="2400" dirty="0">
                <a:latin typeface="Times New Roman" panose="02020603050405020304" pitchFamily="18" charset="0"/>
                <a:cs typeface="Times New Roman" panose="02020603050405020304" pitchFamily="18" charset="0"/>
              </a:rPr>
              <a:t>                                                                                                 </a:t>
            </a:r>
          </a:p>
        </p:txBody>
      </p:sp>
      <p:cxnSp>
        <p:nvCxnSpPr>
          <p:cNvPr id="6" name="Straight Connector 5">
            <a:extLst>
              <a:ext uri="{FF2B5EF4-FFF2-40B4-BE49-F238E27FC236}">
                <a16:creationId xmlns:a16="http://schemas.microsoft.com/office/drawing/2014/main" id="{83E69390-37FC-E138-7FB5-360F4572AAA4}"/>
              </a:ext>
            </a:extLst>
          </p:cNvPr>
          <p:cNvCxnSpPr>
            <a:cxnSpLocks/>
          </p:cNvCxnSpPr>
          <p:nvPr/>
        </p:nvCxnSpPr>
        <p:spPr>
          <a:xfrm>
            <a:off x="3347720" y="1637435"/>
            <a:ext cx="16154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E7A6D74-09D6-FDAA-5BF7-F21BD7AAADDA}"/>
              </a:ext>
            </a:extLst>
          </p:cNvPr>
          <p:cNvCxnSpPr>
            <a:cxnSpLocks/>
          </p:cNvCxnSpPr>
          <p:nvPr/>
        </p:nvCxnSpPr>
        <p:spPr>
          <a:xfrm>
            <a:off x="3347720" y="2848261"/>
            <a:ext cx="1605280" cy="0"/>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03695D9B-1AEC-2E68-B09C-DBDE2F133E8D}"/>
              </a:ext>
            </a:extLst>
          </p:cNvPr>
          <p:cNvPicPr>
            <a:picLocks noChangeAspect="1"/>
          </p:cNvPicPr>
          <p:nvPr/>
        </p:nvPicPr>
        <p:blipFill>
          <a:blip r:embed="rId2"/>
          <a:stretch>
            <a:fillRect/>
          </a:stretch>
        </p:blipFill>
        <p:spPr>
          <a:xfrm>
            <a:off x="10944253" y="141192"/>
            <a:ext cx="1146147" cy="743776"/>
          </a:xfrm>
          <a:prstGeom prst="rect">
            <a:avLst/>
          </a:prstGeom>
        </p:spPr>
      </p:pic>
      <p:sp>
        <p:nvSpPr>
          <p:cNvPr id="2" name="Date Placeholder 1">
            <a:extLst>
              <a:ext uri="{FF2B5EF4-FFF2-40B4-BE49-F238E27FC236}">
                <a16:creationId xmlns:a16="http://schemas.microsoft.com/office/drawing/2014/main" id="{C3925232-5E66-D648-69D1-B6A4A6423958}"/>
              </a:ext>
            </a:extLst>
          </p:cNvPr>
          <p:cNvSpPr>
            <a:spLocks noGrp="1"/>
          </p:cNvSpPr>
          <p:nvPr>
            <p:ph type="dt" sz="half" idx="10"/>
          </p:nvPr>
        </p:nvSpPr>
        <p:spPr/>
        <p:txBody>
          <a:bodyPr/>
          <a:lstStyle/>
          <a:p>
            <a:fld id="{09A7B94E-9E3D-4253-B6DD-095E42EF7177}" type="datetime1">
              <a:rPr lang="en-IN" smtClean="0"/>
              <a:t>25-11-2025</a:t>
            </a:fld>
            <a:endParaRPr lang="en-IN" dirty="0"/>
          </a:p>
        </p:txBody>
      </p:sp>
      <p:sp>
        <p:nvSpPr>
          <p:cNvPr id="3" name="Slide Number Placeholder 2">
            <a:extLst>
              <a:ext uri="{FF2B5EF4-FFF2-40B4-BE49-F238E27FC236}">
                <a16:creationId xmlns:a16="http://schemas.microsoft.com/office/drawing/2014/main" id="{3AC86113-54AA-4EAE-F6E3-2947DF7EA7D7}"/>
              </a:ext>
            </a:extLst>
          </p:cNvPr>
          <p:cNvSpPr>
            <a:spLocks noGrp="1"/>
          </p:cNvSpPr>
          <p:nvPr>
            <p:ph type="sldNum" sz="quarter" idx="12"/>
          </p:nvPr>
        </p:nvSpPr>
        <p:spPr/>
        <p:txBody>
          <a:bodyPr/>
          <a:lstStyle/>
          <a:p>
            <a:fld id="{1D61E2EE-8691-4F9F-8A0A-B2A5C6D22C5B}" type="slidenum">
              <a:rPr lang="en-IN" smtClean="0"/>
              <a:t>14</a:t>
            </a:fld>
            <a:endParaRPr lang="en-IN" dirty="0"/>
          </a:p>
        </p:txBody>
      </p:sp>
    </p:spTree>
    <p:extLst>
      <p:ext uri="{BB962C8B-B14F-4D97-AF65-F5344CB8AC3E}">
        <p14:creationId xmlns:p14="http://schemas.microsoft.com/office/powerpoint/2010/main" val="574919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4C75A-C160-8E6F-275C-7BC95EB6E57C}"/>
              </a:ext>
            </a:extLst>
          </p:cNvPr>
          <p:cNvSpPr>
            <a:spLocks noGrp="1"/>
          </p:cNvSpPr>
          <p:nvPr>
            <p:ph type="title"/>
          </p:nvPr>
        </p:nvSpPr>
        <p:spPr>
          <a:xfrm>
            <a:off x="531628" y="1"/>
            <a:ext cx="10822172" cy="1010092"/>
          </a:xfrm>
        </p:spPr>
        <p:txBody>
          <a:bodyPr>
            <a:normAutofit fontScale="90000"/>
          </a:bodyPr>
          <a:lstStyle/>
          <a:p>
            <a:pPr algn="ctr"/>
            <a:br>
              <a:rPr lang="en-IN" sz="2700" b="1"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cs typeface="Times New Roman" panose="02020603050405020304" pitchFamily="18" charset="0"/>
              </a:rPr>
              <a:t>Figures</a:t>
            </a: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cs typeface="Times New Roman" panose="02020603050405020304" pitchFamily="18" charset="0"/>
              </a:rPr>
              <a:t>Hardware and Software components</a:t>
            </a:r>
          </a:p>
        </p:txBody>
      </p:sp>
      <p:pic>
        <p:nvPicPr>
          <p:cNvPr id="7" name="Content Placeholder 6">
            <a:extLst>
              <a:ext uri="{FF2B5EF4-FFF2-40B4-BE49-F238E27FC236}">
                <a16:creationId xmlns:a16="http://schemas.microsoft.com/office/drawing/2014/main" id="{18215FD2-0566-A4B6-93A4-34A664AF4344}"/>
              </a:ext>
            </a:extLst>
          </p:cNvPr>
          <p:cNvPicPr>
            <a:picLocks noGrp="1" noChangeAspect="1"/>
          </p:cNvPicPr>
          <p:nvPr>
            <p:ph sz="half" idx="1"/>
          </p:nvPr>
        </p:nvPicPr>
        <p:blipFill>
          <a:blip r:embed="rId2"/>
          <a:stretch>
            <a:fillRect/>
          </a:stretch>
        </p:blipFill>
        <p:spPr>
          <a:xfrm>
            <a:off x="1148316" y="1988288"/>
            <a:ext cx="3713368" cy="2190307"/>
          </a:xfrm>
          <a:prstGeom prst="rect">
            <a:avLst/>
          </a:prstGeom>
        </p:spPr>
      </p:pic>
      <p:pic>
        <p:nvPicPr>
          <p:cNvPr id="9" name="Content Placeholder 8">
            <a:extLst>
              <a:ext uri="{FF2B5EF4-FFF2-40B4-BE49-F238E27FC236}">
                <a16:creationId xmlns:a16="http://schemas.microsoft.com/office/drawing/2014/main" id="{5EBB2BC8-C4A9-5BF3-6820-7A022A3A3D06}"/>
              </a:ext>
            </a:extLst>
          </p:cNvPr>
          <p:cNvPicPr>
            <a:picLocks noGrp="1" noChangeAspect="1"/>
          </p:cNvPicPr>
          <p:nvPr>
            <p:ph sz="half" idx="2"/>
          </p:nvPr>
        </p:nvPicPr>
        <p:blipFill>
          <a:blip r:embed="rId3"/>
          <a:stretch>
            <a:fillRect/>
          </a:stretch>
        </p:blipFill>
        <p:spPr>
          <a:xfrm rot="19936155">
            <a:off x="7177248" y="1639474"/>
            <a:ext cx="4549257" cy="1775502"/>
          </a:xfrm>
          <a:prstGeom prst="rect">
            <a:avLst/>
          </a:prstGeom>
        </p:spPr>
      </p:pic>
      <p:sp>
        <p:nvSpPr>
          <p:cNvPr id="5" name="Date Placeholder 4">
            <a:extLst>
              <a:ext uri="{FF2B5EF4-FFF2-40B4-BE49-F238E27FC236}">
                <a16:creationId xmlns:a16="http://schemas.microsoft.com/office/drawing/2014/main" id="{F9E36627-F6DB-4A40-CE12-197CDC15CAD7}"/>
              </a:ext>
            </a:extLst>
          </p:cNvPr>
          <p:cNvSpPr>
            <a:spLocks noGrp="1"/>
          </p:cNvSpPr>
          <p:nvPr>
            <p:ph type="dt" sz="half" idx="10"/>
          </p:nvPr>
        </p:nvSpPr>
        <p:spPr/>
        <p:txBody>
          <a:bodyPr/>
          <a:lstStyle/>
          <a:p>
            <a:fld id="{9FD4A164-7004-4177-A478-650B228057DD}" type="datetime1">
              <a:rPr lang="en-IN" smtClean="0"/>
              <a:t>25-11-2025</a:t>
            </a:fld>
            <a:endParaRPr lang="en-IN" dirty="0"/>
          </a:p>
        </p:txBody>
      </p:sp>
      <p:sp>
        <p:nvSpPr>
          <p:cNvPr id="6" name="Slide Number Placeholder 5">
            <a:extLst>
              <a:ext uri="{FF2B5EF4-FFF2-40B4-BE49-F238E27FC236}">
                <a16:creationId xmlns:a16="http://schemas.microsoft.com/office/drawing/2014/main" id="{89378A10-8465-9051-DCD2-3C703CEFB933}"/>
              </a:ext>
            </a:extLst>
          </p:cNvPr>
          <p:cNvSpPr>
            <a:spLocks noGrp="1"/>
          </p:cNvSpPr>
          <p:nvPr>
            <p:ph type="sldNum" sz="quarter" idx="12"/>
          </p:nvPr>
        </p:nvSpPr>
        <p:spPr/>
        <p:txBody>
          <a:bodyPr/>
          <a:lstStyle/>
          <a:p>
            <a:fld id="{1D61E2EE-8691-4F9F-8A0A-B2A5C6D22C5B}" type="slidenum">
              <a:rPr lang="en-IN" smtClean="0"/>
              <a:t>15</a:t>
            </a:fld>
            <a:endParaRPr lang="en-IN" dirty="0"/>
          </a:p>
        </p:txBody>
      </p:sp>
      <p:pic>
        <p:nvPicPr>
          <p:cNvPr id="8" name="Picture 7">
            <a:extLst>
              <a:ext uri="{FF2B5EF4-FFF2-40B4-BE49-F238E27FC236}">
                <a16:creationId xmlns:a16="http://schemas.microsoft.com/office/drawing/2014/main" id="{58A180C9-44FE-3942-0656-87F5B2CFC854}"/>
              </a:ext>
            </a:extLst>
          </p:cNvPr>
          <p:cNvPicPr>
            <a:picLocks noChangeAspect="1"/>
          </p:cNvPicPr>
          <p:nvPr/>
        </p:nvPicPr>
        <p:blipFill>
          <a:blip r:embed="rId4"/>
          <a:stretch>
            <a:fillRect/>
          </a:stretch>
        </p:blipFill>
        <p:spPr>
          <a:xfrm rot="983166">
            <a:off x="1148316" y="4412511"/>
            <a:ext cx="4572000" cy="1943839"/>
          </a:xfrm>
          <a:prstGeom prst="rect">
            <a:avLst/>
          </a:prstGeom>
        </p:spPr>
      </p:pic>
      <p:pic>
        <p:nvPicPr>
          <p:cNvPr id="10" name="Picture 9">
            <a:extLst>
              <a:ext uri="{FF2B5EF4-FFF2-40B4-BE49-F238E27FC236}">
                <a16:creationId xmlns:a16="http://schemas.microsoft.com/office/drawing/2014/main" id="{BE9CBF9E-4055-77AA-14BF-7B6877D6BD69}"/>
              </a:ext>
            </a:extLst>
          </p:cNvPr>
          <p:cNvPicPr>
            <a:picLocks noChangeAspect="1"/>
          </p:cNvPicPr>
          <p:nvPr/>
        </p:nvPicPr>
        <p:blipFill>
          <a:blip r:embed="rId5"/>
          <a:stretch>
            <a:fillRect/>
          </a:stretch>
        </p:blipFill>
        <p:spPr>
          <a:xfrm rot="20847498">
            <a:off x="7333103" y="4247119"/>
            <a:ext cx="3309863" cy="1595949"/>
          </a:xfrm>
          <a:prstGeom prst="rect">
            <a:avLst/>
          </a:prstGeom>
        </p:spPr>
      </p:pic>
      <p:sp>
        <p:nvSpPr>
          <p:cNvPr id="12" name="TextBox 11">
            <a:extLst>
              <a:ext uri="{FF2B5EF4-FFF2-40B4-BE49-F238E27FC236}">
                <a16:creationId xmlns:a16="http://schemas.microsoft.com/office/drawing/2014/main" id="{C6621556-2730-220C-B5AA-6BF17A6A9363}"/>
              </a:ext>
            </a:extLst>
          </p:cNvPr>
          <p:cNvSpPr txBox="1"/>
          <p:nvPr/>
        </p:nvSpPr>
        <p:spPr>
          <a:xfrm>
            <a:off x="2307266" y="5975498"/>
            <a:ext cx="2371060"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Microcontroller</a:t>
            </a:r>
          </a:p>
        </p:txBody>
      </p:sp>
      <p:sp>
        <p:nvSpPr>
          <p:cNvPr id="13" name="TextBox 12">
            <a:extLst>
              <a:ext uri="{FF2B5EF4-FFF2-40B4-BE49-F238E27FC236}">
                <a16:creationId xmlns:a16="http://schemas.microsoft.com/office/drawing/2014/main" id="{B3331393-289B-131F-F80B-F3ADA86D14B6}"/>
              </a:ext>
            </a:extLst>
          </p:cNvPr>
          <p:cNvSpPr txBox="1"/>
          <p:nvPr/>
        </p:nvSpPr>
        <p:spPr>
          <a:xfrm>
            <a:off x="8378456" y="3583172"/>
            <a:ext cx="1945758"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Ultrasonic Sensor</a:t>
            </a:r>
          </a:p>
        </p:txBody>
      </p:sp>
      <p:sp>
        <p:nvSpPr>
          <p:cNvPr id="14" name="TextBox 13">
            <a:extLst>
              <a:ext uri="{FF2B5EF4-FFF2-40B4-BE49-F238E27FC236}">
                <a16:creationId xmlns:a16="http://schemas.microsoft.com/office/drawing/2014/main" id="{081AB63D-5063-AAA4-4E48-D799DCD3DE82}"/>
              </a:ext>
            </a:extLst>
          </p:cNvPr>
          <p:cNvSpPr txBox="1"/>
          <p:nvPr/>
        </p:nvSpPr>
        <p:spPr>
          <a:xfrm>
            <a:off x="7687340" y="5975498"/>
            <a:ext cx="2945217"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Connecting wires</a:t>
            </a:r>
          </a:p>
        </p:txBody>
      </p:sp>
      <p:sp>
        <p:nvSpPr>
          <p:cNvPr id="16" name="TextBox 15">
            <a:extLst>
              <a:ext uri="{FF2B5EF4-FFF2-40B4-BE49-F238E27FC236}">
                <a16:creationId xmlns:a16="http://schemas.microsoft.com/office/drawing/2014/main" id="{8BE2F8C5-351C-028A-5DB4-3E2BCD2D06AB}"/>
              </a:ext>
            </a:extLst>
          </p:cNvPr>
          <p:cNvSpPr txBox="1"/>
          <p:nvPr/>
        </p:nvSpPr>
        <p:spPr>
          <a:xfrm>
            <a:off x="2573079" y="3583172"/>
            <a:ext cx="3062177" cy="646331"/>
          </a:xfrm>
          <a:prstGeom prst="rect">
            <a:avLst/>
          </a:prstGeom>
          <a:noFill/>
        </p:spPr>
        <p:txBody>
          <a:bodyPr wrap="square" rtlCol="0">
            <a:spAutoFit/>
          </a:bodyPr>
          <a:lstStyle/>
          <a:p>
            <a:endParaRPr lang="en-IN" dirty="0"/>
          </a:p>
          <a:p>
            <a:r>
              <a:rPr lang="en-IN" b="1" dirty="0">
                <a:latin typeface="Times New Roman" panose="02020603050405020304" pitchFamily="18" charset="0"/>
                <a:cs typeface="Times New Roman" panose="02020603050405020304" pitchFamily="18" charset="0"/>
              </a:rPr>
              <a:t>Arduino NANO</a:t>
            </a:r>
          </a:p>
        </p:txBody>
      </p:sp>
    </p:spTree>
    <p:extLst>
      <p:ext uri="{BB962C8B-B14F-4D97-AF65-F5344CB8AC3E}">
        <p14:creationId xmlns:p14="http://schemas.microsoft.com/office/powerpoint/2010/main" val="713879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03838-9CD5-AD72-7F93-FBEEE07C2D26}"/>
              </a:ext>
            </a:extLst>
          </p:cNvPr>
          <p:cNvSpPr>
            <a:spLocks noGrp="1"/>
          </p:cNvSpPr>
          <p:nvPr>
            <p:ph type="title"/>
          </p:nvPr>
        </p:nvSpPr>
        <p:spPr/>
        <p:txBody>
          <a:bodyPr>
            <a:normAutofit/>
          </a:bodyPr>
          <a:lstStyle/>
          <a:p>
            <a:pPr algn="ctr"/>
            <a:r>
              <a:rPr lang="en-IN" sz="2400" b="1" dirty="0">
                <a:latin typeface="Times New Roman" panose="02020603050405020304" pitchFamily="18" charset="0"/>
                <a:cs typeface="Times New Roman" panose="02020603050405020304" pitchFamily="18" charset="0"/>
              </a:rPr>
              <a:t> Output of the model</a:t>
            </a:r>
          </a:p>
        </p:txBody>
      </p:sp>
      <p:pic>
        <p:nvPicPr>
          <p:cNvPr id="6" name="Content Placeholder 5">
            <a:extLst>
              <a:ext uri="{FF2B5EF4-FFF2-40B4-BE49-F238E27FC236}">
                <a16:creationId xmlns:a16="http://schemas.microsoft.com/office/drawing/2014/main" id="{45B45C06-0D3B-89AD-56DA-90AD893FDA98}"/>
              </a:ext>
            </a:extLst>
          </p:cNvPr>
          <p:cNvPicPr>
            <a:picLocks noGrp="1" noChangeAspect="1"/>
          </p:cNvPicPr>
          <p:nvPr>
            <p:ph idx="1"/>
          </p:nvPr>
        </p:nvPicPr>
        <p:blipFill>
          <a:blip r:embed="rId2"/>
          <a:stretch>
            <a:fillRect/>
          </a:stretch>
        </p:blipFill>
        <p:spPr>
          <a:xfrm>
            <a:off x="3148319" y="1584464"/>
            <a:ext cx="5895361" cy="4351338"/>
          </a:xfrm>
          <a:prstGeom prst="rect">
            <a:avLst/>
          </a:prstGeom>
        </p:spPr>
      </p:pic>
      <p:sp>
        <p:nvSpPr>
          <p:cNvPr id="4" name="Date Placeholder 3">
            <a:extLst>
              <a:ext uri="{FF2B5EF4-FFF2-40B4-BE49-F238E27FC236}">
                <a16:creationId xmlns:a16="http://schemas.microsoft.com/office/drawing/2014/main" id="{12E9FC84-9955-2A16-B69A-D35718A83C21}"/>
              </a:ext>
            </a:extLst>
          </p:cNvPr>
          <p:cNvSpPr>
            <a:spLocks noGrp="1"/>
          </p:cNvSpPr>
          <p:nvPr>
            <p:ph type="dt" sz="half" idx="10"/>
          </p:nvPr>
        </p:nvSpPr>
        <p:spPr/>
        <p:txBody>
          <a:bodyPr/>
          <a:lstStyle/>
          <a:p>
            <a:fld id="{33AF81BB-0238-4588-8C07-DAF0DBF3914C}" type="datetime1">
              <a:rPr lang="en-IN" smtClean="0"/>
              <a:t>25-11-2025</a:t>
            </a:fld>
            <a:endParaRPr lang="en-IN" dirty="0"/>
          </a:p>
        </p:txBody>
      </p:sp>
      <p:sp>
        <p:nvSpPr>
          <p:cNvPr id="5" name="Slide Number Placeholder 4">
            <a:extLst>
              <a:ext uri="{FF2B5EF4-FFF2-40B4-BE49-F238E27FC236}">
                <a16:creationId xmlns:a16="http://schemas.microsoft.com/office/drawing/2014/main" id="{309E87E0-81E3-E1A5-81BD-5B804FF67793}"/>
              </a:ext>
            </a:extLst>
          </p:cNvPr>
          <p:cNvSpPr>
            <a:spLocks noGrp="1"/>
          </p:cNvSpPr>
          <p:nvPr>
            <p:ph type="sldNum" sz="quarter" idx="12"/>
          </p:nvPr>
        </p:nvSpPr>
        <p:spPr/>
        <p:txBody>
          <a:bodyPr/>
          <a:lstStyle/>
          <a:p>
            <a:fld id="{1D61E2EE-8691-4F9F-8A0A-B2A5C6D22C5B}" type="slidenum">
              <a:rPr lang="en-IN" smtClean="0"/>
              <a:t>16</a:t>
            </a:fld>
            <a:endParaRPr lang="en-IN" dirty="0"/>
          </a:p>
        </p:txBody>
      </p:sp>
    </p:spTree>
    <p:extLst>
      <p:ext uri="{BB962C8B-B14F-4D97-AF65-F5344CB8AC3E}">
        <p14:creationId xmlns:p14="http://schemas.microsoft.com/office/powerpoint/2010/main" val="2760503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6CBA2-596B-39EE-84D3-19DC31AA3A29}"/>
              </a:ext>
            </a:extLst>
          </p:cNvPr>
          <p:cNvSpPr>
            <a:spLocks noGrp="1"/>
          </p:cNvSpPr>
          <p:nvPr>
            <p:ph type="title"/>
          </p:nvPr>
        </p:nvSpPr>
        <p:spPr/>
        <p:txBody>
          <a:bodyPr>
            <a:normAutofit/>
          </a:bodyPr>
          <a:lstStyle/>
          <a:p>
            <a:pPr algn="ctr"/>
            <a:r>
              <a:rPr lang="en-US" sz="2400" b="1" dirty="0">
                <a:latin typeface="Times New Roman" panose="02020603050405020304" pitchFamily="18" charset="0"/>
                <a:cs typeface="Times New Roman" panose="02020603050405020304" pitchFamily="18" charset="0"/>
              </a:rPr>
              <a:t>RESULTS AND DISCUSSIONS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949BAFF-8F5B-60D1-1938-CBACD3ADB0BF}"/>
              </a:ext>
            </a:extLst>
          </p:cNvPr>
          <p:cNvSpPr>
            <a:spLocks noGrp="1"/>
          </p:cNvSpPr>
          <p:nvPr>
            <p:ph idx="1"/>
          </p:nvPr>
        </p:nvSpPr>
        <p:spPr>
          <a:xfrm>
            <a:off x="0" y="1341120"/>
            <a:ext cx="12192000" cy="5516880"/>
          </a:xfrm>
        </p:spPr>
        <p:txBody>
          <a:bodyPr/>
          <a:lstStyle/>
          <a:p>
            <a:pPr marL="0" indent="0">
              <a:buNone/>
            </a:pPr>
            <a:r>
              <a:rPr lang="en-US" dirty="0"/>
              <a:t>  </a:t>
            </a:r>
            <a:r>
              <a:rPr lang="en-US" sz="2000" dirty="0">
                <a:latin typeface="Times New Roman" panose="02020603050405020304" pitchFamily="18" charset="0"/>
                <a:cs typeface="Times New Roman" panose="02020603050405020304" pitchFamily="18" charset="0"/>
              </a:rPr>
              <a:t>The Ultrasonic Sensor–Based Spectacles were successfully designed, assembled, and tested to assist visually impaired individuals in obstacle detection. The system effectively uses an ultrasonic sensor, Arduino Nano, and buzzer to identify obstacles and provide real-time alerts through sound signals.</a:t>
            </a:r>
          </a:p>
          <a:p>
            <a:pPr marL="0" indent="0">
              <a:buNone/>
            </a:pPr>
            <a:r>
              <a:rPr lang="en-US" sz="2000" dirty="0">
                <a:latin typeface="Times New Roman" panose="02020603050405020304" pitchFamily="18" charset="0"/>
                <a:cs typeface="Times New Roman" panose="02020603050405020304" pitchFamily="18" charset="0"/>
              </a:rPr>
              <a:t>1. </a:t>
            </a:r>
            <a:r>
              <a:rPr lang="en-US" sz="2000" b="1" dirty="0">
                <a:latin typeface="Times New Roman" panose="02020603050405020304" pitchFamily="18" charset="0"/>
                <a:cs typeface="Times New Roman" panose="02020603050405020304" pitchFamily="18" charset="0"/>
              </a:rPr>
              <a:t>Experimental Results</a:t>
            </a:r>
          </a:p>
          <a:p>
            <a:pPr algn="just">
              <a:lnSpc>
                <a:spcPct val="1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ultrasonic sensor accurately detected obstacles within a range of 2 cm to 400 cm.</a:t>
            </a:r>
          </a:p>
          <a:p>
            <a:pPr algn="just">
              <a:lnSpc>
                <a:spcPct val="1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threshold distance was set at 100 cm; whenever an obstacle was detected within this range, the buzzer activated immediately.</a:t>
            </a:r>
          </a:p>
          <a:p>
            <a:pPr algn="just">
              <a:lnSpc>
                <a:spcPct val="1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average response time of the system was less than 0.3 seconds, ensuring quick alert generation.</a:t>
            </a:r>
          </a:p>
          <a:p>
            <a:pPr algn="just">
              <a:lnSpc>
                <a:spcPct val="1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Tests were performed in various conditions – indoors, outdoors, and under different lighting-with minimal variation in detection accuracy.</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92111E7-2584-EC64-4813-86605E17ED21}"/>
              </a:ext>
            </a:extLst>
          </p:cNvPr>
          <p:cNvPicPr>
            <a:picLocks noChangeAspect="1"/>
          </p:cNvPicPr>
          <p:nvPr/>
        </p:nvPicPr>
        <p:blipFill>
          <a:blip r:embed="rId2"/>
          <a:stretch>
            <a:fillRect/>
          </a:stretch>
        </p:blipFill>
        <p:spPr>
          <a:xfrm>
            <a:off x="10928046" y="109347"/>
            <a:ext cx="1146147" cy="743776"/>
          </a:xfrm>
          <a:prstGeom prst="rect">
            <a:avLst/>
          </a:prstGeom>
        </p:spPr>
      </p:pic>
      <p:sp>
        <p:nvSpPr>
          <p:cNvPr id="5" name="Date Placeholder 4">
            <a:extLst>
              <a:ext uri="{FF2B5EF4-FFF2-40B4-BE49-F238E27FC236}">
                <a16:creationId xmlns:a16="http://schemas.microsoft.com/office/drawing/2014/main" id="{C3820011-0DA5-3452-8FC0-DF81FA9F7861}"/>
              </a:ext>
            </a:extLst>
          </p:cNvPr>
          <p:cNvSpPr>
            <a:spLocks noGrp="1"/>
          </p:cNvSpPr>
          <p:nvPr>
            <p:ph type="dt" sz="half" idx="10"/>
          </p:nvPr>
        </p:nvSpPr>
        <p:spPr/>
        <p:txBody>
          <a:bodyPr/>
          <a:lstStyle/>
          <a:p>
            <a:fld id="{C0FFE2D4-33BC-4FE3-8A10-53AB5F2A6042}" type="datetime1">
              <a:rPr lang="en-IN" smtClean="0"/>
              <a:t>25-11-2025</a:t>
            </a:fld>
            <a:endParaRPr lang="en-IN" dirty="0"/>
          </a:p>
        </p:txBody>
      </p:sp>
      <p:sp>
        <p:nvSpPr>
          <p:cNvPr id="6" name="Slide Number Placeholder 5">
            <a:extLst>
              <a:ext uri="{FF2B5EF4-FFF2-40B4-BE49-F238E27FC236}">
                <a16:creationId xmlns:a16="http://schemas.microsoft.com/office/drawing/2014/main" id="{BBE9D95D-EC12-D811-99E0-940D3CFD7F38}"/>
              </a:ext>
            </a:extLst>
          </p:cNvPr>
          <p:cNvSpPr>
            <a:spLocks noGrp="1"/>
          </p:cNvSpPr>
          <p:nvPr>
            <p:ph type="sldNum" sz="quarter" idx="12"/>
          </p:nvPr>
        </p:nvSpPr>
        <p:spPr/>
        <p:txBody>
          <a:bodyPr/>
          <a:lstStyle/>
          <a:p>
            <a:fld id="{1D61E2EE-8691-4F9F-8A0A-B2A5C6D22C5B}" type="slidenum">
              <a:rPr lang="en-IN" smtClean="0"/>
              <a:t>17</a:t>
            </a:fld>
            <a:endParaRPr lang="en-IN" dirty="0"/>
          </a:p>
        </p:txBody>
      </p:sp>
    </p:spTree>
    <p:extLst>
      <p:ext uri="{BB962C8B-B14F-4D97-AF65-F5344CB8AC3E}">
        <p14:creationId xmlns:p14="http://schemas.microsoft.com/office/powerpoint/2010/main" val="3435746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A8F1F0-2382-372C-63E7-F8611F2AD15A}"/>
              </a:ext>
            </a:extLst>
          </p:cNvPr>
          <p:cNvSpPr txBox="1"/>
          <p:nvPr/>
        </p:nvSpPr>
        <p:spPr>
          <a:xfrm>
            <a:off x="325343" y="299619"/>
            <a:ext cx="11247120" cy="1200329"/>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CONCLUSION</a:t>
            </a:r>
          </a:p>
          <a:p>
            <a:pPr algn="ctr"/>
            <a:endParaRPr lang="en-US" sz="2400" dirty="0">
              <a:latin typeface="Times New Roman" pitchFamily="18" charset="0"/>
              <a:cs typeface="Times New Roman" pitchFamily="18" charset="0"/>
            </a:endParaRPr>
          </a:p>
          <a:p>
            <a:pPr algn="ctr"/>
            <a:endParaRPr lang="en-US" sz="2400" dirty="0">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4D3B47CE-3210-0260-DD5A-F3BD5EFA04BA}"/>
              </a:ext>
            </a:extLst>
          </p:cNvPr>
          <p:cNvPicPr>
            <a:picLocks noChangeAspect="1"/>
          </p:cNvPicPr>
          <p:nvPr/>
        </p:nvPicPr>
        <p:blipFill>
          <a:blip r:embed="rId2"/>
          <a:stretch>
            <a:fillRect/>
          </a:stretch>
        </p:blipFill>
        <p:spPr>
          <a:xfrm>
            <a:off x="10950402" y="72093"/>
            <a:ext cx="1060796" cy="993734"/>
          </a:xfrm>
          <a:prstGeom prst="rect">
            <a:avLst/>
          </a:prstGeom>
        </p:spPr>
      </p:pic>
      <p:sp>
        <p:nvSpPr>
          <p:cNvPr id="5" name="TextBox 4">
            <a:extLst>
              <a:ext uri="{FF2B5EF4-FFF2-40B4-BE49-F238E27FC236}">
                <a16:creationId xmlns:a16="http://schemas.microsoft.com/office/drawing/2014/main" id="{4621A158-42D1-BF4E-A909-2B135D6C2261}"/>
              </a:ext>
            </a:extLst>
          </p:cNvPr>
          <p:cNvSpPr txBox="1"/>
          <p:nvPr/>
        </p:nvSpPr>
        <p:spPr>
          <a:xfrm>
            <a:off x="0" y="1065827"/>
            <a:ext cx="12192000" cy="3477875"/>
          </a:xfrm>
          <a:prstGeom prst="rect">
            <a:avLst/>
          </a:prstGeom>
          <a:noFill/>
        </p:spPr>
        <p:txBody>
          <a:bodyPr wrap="square">
            <a:spAutoFit/>
          </a:bodyPr>
          <a:lstStyle/>
          <a:p>
            <a:pPr marL="342900" indent="-342900"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Ultrasonic Sensor–Based Spectacles were successfully designed and implemented to assist visually impaired individuals in detecting obstacles and improving their mobility. The system effectively integrates an ultrasonic sensor, Arduino Nano, and buzzer to provide real-time obstacle detection and audio feedback to the user.</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experimental results confirm that the device accurately measures distances and alerts users promptly when obstacles are within a predefined range. The compact design, low cost, and ease of use make it a practical and efficient assistive tool for daily navigation.</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This project demonstrates how simple embedded systems can be applied to solve real-world problems and enhance the quality of life. It serves as a step toward technological inclusion by providing affordable support to visually challenged individuals.</a:t>
            </a:r>
          </a:p>
        </p:txBody>
      </p:sp>
      <p:sp>
        <p:nvSpPr>
          <p:cNvPr id="6" name="Date Placeholder 5">
            <a:extLst>
              <a:ext uri="{FF2B5EF4-FFF2-40B4-BE49-F238E27FC236}">
                <a16:creationId xmlns:a16="http://schemas.microsoft.com/office/drawing/2014/main" id="{4C7DA3F1-8E4C-E1D7-45D8-0B09854621A7}"/>
              </a:ext>
            </a:extLst>
          </p:cNvPr>
          <p:cNvSpPr>
            <a:spLocks noGrp="1"/>
          </p:cNvSpPr>
          <p:nvPr>
            <p:ph type="dt" sz="half" idx="10"/>
          </p:nvPr>
        </p:nvSpPr>
        <p:spPr/>
        <p:txBody>
          <a:bodyPr/>
          <a:lstStyle/>
          <a:p>
            <a:fld id="{F4CF2987-7305-483D-A565-7362989E4269}" type="datetime1">
              <a:rPr lang="en-IN" smtClean="0"/>
              <a:t>25-11-2025</a:t>
            </a:fld>
            <a:endParaRPr lang="en-IN" dirty="0"/>
          </a:p>
        </p:txBody>
      </p:sp>
      <p:sp>
        <p:nvSpPr>
          <p:cNvPr id="7" name="Slide Number Placeholder 6">
            <a:extLst>
              <a:ext uri="{FF2B5EF4-FFF2-40B4-BE49-F238E27FC236}">
                <a16:creationId xmlns:a16="http://schemas.microsoft.com/office/drawing/2014/main" id="{02F40DAF-1DA9-D05B-B902-C2ADD02FF9AD}"/>
              </a:ext>
            </a:extLst>
          </p:cNvPr>
          <p:cNvSpPr>
            <a:spLocks noGrp="1"/>
          </p:cNvSpPr>
          <p:nvPr>
            <p:ph type="sldNum" sz="quarter" idx="12"/>
          </p:nvPr>
        </p:nvSpPr>
        <p:spPr/>
        <p:txBody>
          <a:bodyPr/>
          <a:lstStyle/>
          <a:p>
            <a:fld id="{1D61E2EE-8691-4F9F-8A0A-B2A5C6D22C5B}" type="slidenum">
              <a:rPr lang="en-IN" smtClean="0"/>
              <a:t>18</a:t>
            </a:fld>
            <a:endParaRPr lang="en-IN" dirty="0"/>
          </a:p>
        </p:txBody>
      </p:sp>
    </p:spTree>
    <p:extLst>
      <p:ext uri="{BB962C8B-B14F-4D97-AF65-F5344CB8AC3E}">
        <p14:creationId xmlns:p14="http://schemas.microsoft.com/office/powerpoint/2010/main" val="2590251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7A097-62A5-D737-6B01-20DB59B2ADFF}"/>
              </a:ext>
            </a:extLst>
          </p:cNvPr>
          <p:cNvSpPr>
            <a:spLocks noGrp="1"/>
          </p:cNvSpPr>
          <p:nvPr>
            <p:ph type="title"/>
          </p:nvPr>
        </p:nvSpPr>
        <p:spPr>
          <a:xfrm>
            <a:off x="4622886" y="361553"/>
            <a:ext cx="2800350" cy="495300"/>
          </a:xfrm>
        </p:spPr>
        <p:txBody>
          <a:bodyPr>
            <a:normAutofit/>
          </a:bodyPr>
          <a:lstStyle/>
          <a:p>
            <a:pPr algn="ctr"/>
            <a:r>
              <a:rPr lang="en-IN" sz="24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92344FED-398F-486C-4AA9-189C670F149A}"/>
              </a:ext>
            </a:extLst>
          </p:cNvPr>
          <p:cNvSpPr>
            <a:spLocks noGrp="1"/>
          </p:cNvSpPr>
          <p:nvPr>
            <p:ph idx="1"/>
          </p:nvPr>
        </p:nvSpPr>
        <p:spPr>
          <a:xfrm>
            <a:off x="0" y="1181100"/>
            <a:ext cx="12046123" cy="5676900"/>
          </a:xfrm>
        </p:spPr>
        <p:txBody>
          <a:bodyPr/>
          <a:lstStyle/>
          <a:p>
            <a:pPr marL="0" indent="0">
              <a:buNone/>
            </a:pPr>
            <a:r>
              <a:rPr lang="en-IN" dirty="0"/>
              <a:t> </a:t>
            </a:r>
          </a:p>
        </p:txBody>
      </p:sp>
      <p:pic>
        <p:nvPicPr>
          <p:cNvPr id="4" name="Picture 3">
            <a:extLst>
              <a:ext uri="{FF2B5EF4-FFF2-40B4-BE49-F238E27FC236}">
                <a16:creationId xmlns:a16="http://schemas.microsoft.com/office/drawing/2014/main" id="{ED573B1F-23C1-D07A-7716-CB03FF265F17}"/>
              </a:ext>
            </a:extLst>
          </p:cNvPr>
          <p:cNvPicPr>
            <a:picLocks noChangeAspect="1"/>
          </p:cNvPicPr>
          <p:nvPr/>
        </p:nvPicPr>
        <p:blipFill>
          <a:blip r:embed="rId2"/>
          <a:stretch>
            <a:fillRect/>
          </a:stretch>
        </p:blipFill>
        <p:spPr>
          <a:xfrm>
            <a:off x="10985327" y="34172"/>
            <a:ext cx="1060796" cy="993734"/>
          </a:xfrm>
          <a:prstGeom prst="rect">
            <a:avLst/>
          </a:prstGeom>
        </p:spPr>
      </p:pic>
      <p:sp>
        <p:nvSpPr>
          <p:cNvPr id="5" name="Date Placeholder 4">
            <a:extLst>
              <a:ext uri="{FF2B5EF4-FFF2-40B4-BE49-F238E27FC236}">
                <a16:creationId xmlns:a16="http://schemas.microsoft.com/office/drawing/2014/main" id="{1C66479E-00C5-5B9D-7328-EE12849B54B6}"/>
              </a:ext>
            </a:extLst>
          </p:cNvPr>
          <p:cNvSpPr>
            <a:spLocks noGrp="1"/>
          </p:cNvSpPr>
          <p:nvPr>
            <p:ph type="dt" sz="half" idx="10"/>
          </p:nvPr>
        </p:nvSpPr>
        <p:spPr/>
        <p:txBody>
          <a:bodyPr/>
          <a:lstStyle/>
          <a:p>
            <a:fld id="{EF978522-A68B-45EA-A6CA-A313F010DCD4}" type="datetime1">
              <a:rPr lang="en-IN" smtClean="0"/>
              <a:t>25-11-2025</a:t>
            </a:fld>
            <a:endParaRPr lang="en-IN" dirty="0"/>
          </a:p>
        </p:txBody>
      </p:sp>
      <p:sp>
        <p:nvSpPr>
          <p:cNvPr id="6" name="Slide Number Placeholder 5">
            <a:extLst>
              <a:ext uri="{FF2B5EF4-FFF2-40B4-BE49-F238E27FC236}">
                <a16:creationId xmlns:a16="http://schemas.microsoft.com/office/drawing/2014/main" id="{1D09413A-0052-71B7-10ED-015F2436687D}"/>
              </a:ext>
            </a:extLst>
          </p:cNvPr>
          <p:cNvSpPr>
            <a:spLocks noGrp="1"/>
          </p:cNvSpPr>
          <p:nvPr>
            <p:ph type="sldNum" sz="quarter" idx="12"/>
          </p:nvPr>
        </p:nvSpPr>
        <p:spPr/>
        <p:txBody>
          <a:bodyPr/>
          <a:lstStyle/>
          <a:p>
            <a:fld id="{1D61E2EE-8691-4F9F-8A0A-B2A5C6D22C5B}" type="slidenum">
              <a:rPr lang="en-IN" smtClean="0"/>
              <a:t>19</a:t>
            </a:fld>
            <a:endParaRPr lang="en-IN" dirty="0"/>
          </a:p>
        </p:txBody>
      </p:sp>
      <p:sp>
        <p:nvSpPr>
          <p:cNvPr id="9" name="TextBox 8">
            <a:extLst>
              <a:ext uri="{FF2B5EF4-FFF2-40B4-BE49-F238E27FC236}">
                <a16:creationId xmlns:a16="http://schemas.microsoft.com/office/drawing/2014/main" id="{470EECE2-5B0A-2B79-A3C9-55B7C56085AC}"/>
              </a:ext>
            </a:extLst>
          </p:cNvPr>
          <p:cNvSpPr txBox="1"/>
          <p:nvPr/>
        </p:nvSpPr>
        <p:spPr>
          <a:xfrm>
            <a:off x="145877" y="1027906"/>
            <a:ext cx="12192000" cy="4708981"/>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HC-SR04 Ultrasonic Sensor Datasheet, “HC-SR04 2cm–400cm Ultrasonic Sensor Module,” Electronic Wings.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S. Singh and P. Sharma, “Obstacle Detection System for Visually Impaired Using Ultrasonic Sensor and Arduino,” International Journal of Engineering Research &amp; Technology (IJERT), vol. 7, no. 4, pp. 1–5, 2018.</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A. Kumar, R. Sharma, and V. Gupta, “Wearable Assistive Device for Blind People Using Ultrasonic Sensors,” International Journal of Advanced Research in Electrical, Electronics and Instrumentation Engineering, vol. 7, no. 3, pp. 1256–1262, 2018.</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H. M. Fadel, “Microcontroller-Based Navigation Aid for Visually Impaired People,” Journal of Sensors, 2019.A. Abdulkareem, “System for Visually Disabled through Wearables Utilizing Arduino and Ultrasound Equipment,” Journal of Engineering Science and Technology, vol. 10, no. 4, pp. 1–15, 2024.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S. C. Sethuraman, G. R.Tadkapally, S. P. Mohanty, G. Galada, and A. Subramanian, “Magic Eye: An Intelligent Wearable Towards Independent Living of Visually Impaired,”arXiv preprint arXiv:2303.13863, 2023. </a:t>
            </a:r>
          </a:p>
        </p:txBody>
      </p:sp>
    </p:spTree>
    <p:extLst>
      <p:ext uri="{BB962C8B-B14F-4D97-AF65-F5344CB8AC3E}">
        <p14:creationId xmlns:p14="http://schemas.microsoft.com/office/powerpoint/2010/main" val="1771430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2E3CD3-2915-BC28-B7C3-93C4214B5B9E}"/>
              </a:ext>
            </a:extLst>
          </p:cNvPr>
          <p:cNvPicPr>
            <a:picLocks noChangeAspect="1"/>
          </p:cNvPicPr>
          <p:nvPr/>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4F221601-80AE-1C11-B3A9-E5A44E4F7AFA}"/>
              </a:ext>
            </a:extLst>
          </p:cNvPr>
          <p:cNvSpPr>
            <a:spLocks noGrp="1"/>
          </p:cNvSpPr>
          <p:nvPr>
            <p:ph type="dt" sz="half" idx="10"/>
          </p:nvPr>
        </p:nvSpPr>
        <p:spPr/>
        <p:txBody>
          <a:bodyPr/>
          <a:lstStyle/>
          <a:p>
            <a:fld id="{08DBB698-2109-4D5C-B11C-9EC17E909055}" type="datetime1">
              <a:rPr lang="en-IN" smtClean="0"/>
              <a:t>25-11-2025</a:t>
            </a:fld>
            <a:endParaRPr lang="en-IN" dirty="0"/>
          </a:p>
        </p:txBody>
      </p:sp>
      <p:sp>
        <p:nvSpPr>
          <p:cNvPr id="4" name="Slide Number Placeholder 3">
            <a:extLst>
              <a:ext uri="{FF2B5EF4-FFF2-40B4-BE49-F238E27FC236}">
                <a16:creationId xmlns:a16="http://schemas.microsoft.com/office/drawing/2014/main" id="{69419982-1906-9511-5021-E079C98664A1}"/>
              </a:ext>
            </a:extLst>
          </p:cNvPr>
          <p:cNvSpPr>
            <a:spLocks noGrp="1"/>
          </p:cNvSpPr>
          <p:nvPr>
            <p:ph type="sldNum" sz="quarter" idx="12"/>
          </p:nvPr>
        </p:nvSpPr>
        <p:spPr/>
        <p:txBody>
          <a:bodyPr/>
          <a:lstStyle/>
          <a:p>
            <a:fld id="{1D61E2EE-8691-4F9F-8A0A-B2A5C6D22C5B}" type="slidenum">
              <a:rPr lang="en-IN" smtClean="0"/>
              <a:t>20</a:t>
            </a:fld>
            <a:endParaRPr lang="en-IN" dirty="0"/>
          </a:p>
        </p:txBody>
      </p:sp>
    </p:spTree>
    <p:extLst>
      <p:ext uri="{BB962C8B-B14F-4D97-AF65-F5344CB8AC3E}">
        <p14:creationId xmlns:p14="http://schemas.microsoft.com/office/powerpoint/2010/main" val="20541903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584</TotalTime>
  <Words>2181</Words>
  <Application>Microsoft Office PowerPoint</Application>
  <PresentationFormat>Widescreen</PresentationFormat>
  <Paragraphs>234</Paragraphs>
  <Slides>20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Review of Literature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Figures  Hardware and Software components</vt:lpstr>
      <vt:lpstr> Output of the model</vt:lpstr>
      <vt:lpstr>RESULTS AND DISCUSSIONS</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Balasubramaniyam s</dc:creator>
  <cp:lastModifiedBy>Balasubramaniyam s</cp:lastModifiedBy>
  <cp:revision>15</cp:revision>
  <dcterms:created xsi:type="dcterms:W3CDTF">2025-10-28T08:44:11Z</dcterms:created>
  <dcterms:modified xsi:type="dcterms:W3CDTF">2025-11-25T04:08:49Z</dcterms:modified>
</cp:coreProperties>
</file>